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B80B8B-57E1-5B79-5A3B-04F2CD693B0E}" name="kiruba k" initials="kk" userId="a6b0c1ab33cb1b4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BF97"/>
    <a:srgbClr val="1F3925"/>
    <a:srgbClr val="3D734A"/>
    <a:srgbClr val="5FAD5B"/>
    <a:srgbClr val="4D955E"/>
    <a:srgbClr val="C1D5C1"/>
    <a:srgbClr val="1B7F35"/>
    <a:srgbClr val="7B3B7D"/>
    <a:srgbClr val="B1BAFD"/>
    <a:srgbClr val="B00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microsoft.com/office/2007/relationships/hdphoto" Target="../media/hdphoto4.wdp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document/d/1WpChX0l70rq3lTseBZl1mxvzysVf092X0USjZ2HhxiE/edit?usp=drivesd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8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69511" y="19310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75ED98-C5D0-8AFA-70DA-CAF33C9E9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3E5E83-A14F-057A-5E8F-CDCBA4CCBC29}"/>
              </a:ext>
            </a:extLst>
          </p:cNvPr>
          <p:cNvCxnSpPr/>
          <p:nvPr/>
        </p:nvCxnSpPr>
        <p:spPr>
          <a:xfrm>
            <a:off x="4306529" y="1307690"/>
            <a:ext cx="243840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1514" y="851512"/>
            <a:ext cx="8916152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–1637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Title-Mobile App for Direct Market </a:t>
            </a: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Access for Farmers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Theme-Agriculture , Food Tech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(Bytes Brigade)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7CDB7A7-72C4-5311-13EF-53CC36F6AA06}"/>
              </a:ext>
            </a:extLst>
          </p:cNvPr>
          <p:cNvSpPr/>
          <p:nvPr/>
        </p:nvSpPr>
        <p:spPr>
          <a:xfrm>
            <a:off x="6779424" y="1271690"/>
            <a:ext cx="72000" cy="72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E4D36094-036C-B6E5-DD74-FD218A310855}"/>
              </a:ext>
            </a:extLst>
          </p:cNvPr>
          <p:cNvSpPr/>
          <p:nvPr/>
        </p:nvSpPr>
        <p:spPr>
          <a:xfrm>
            <a:off x="6914944" y="1280831"/>
            <a:ext cx="45719" cy="5058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14EF8FC-C920-EC82-78EC-4E6E384FEB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4993" y="72269"/>
            <a:ext cx="1398632" cy="807334"/>
          </a:xfrm>
          <a:prstGeom prst="ellipse">
            <a:avLst/>
          </a:prstGeom>
          <a:solidFill>
            <a:schemeClr val="lt1"/>
          </a:solidFill>
          <a:ln>
            <a:solidFill>
              <a:srgbClr val="759E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 Bytes Brigade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-8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CD8FF-4264-A9DE-87BA-4F0E6497B614}"/>
              </a:ext>
            </a:extLst>
          </p:cNvPr>
          <p:cNvSpPr/>
          <p:nvPr/>
        </p:nvSpPr>
        <p:spPr>
          <a:xfrm>
            <a:off x="497632" y="1293204"/>
            <a:ext cx="2487562" cy="1022555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0532981-B17C-BD87-6317-414BEF2FA579}"/>
              </a:ext>
            </a:extLst>
          </p:cNvPr>
          <p:cNvGrpSpPr/>
          <p:nvPr/>
        </p:nvGrpSpPr>
        <p:grpSpPr>
          <a:xfrm>
            <a:off x="711232" y="1249731"/>
            <a:ext cx="792000" cy="961277"/>
            <a:chOff x="711232" y="1249731"/>
            <a:chExt cx="792000" cy="961277"/>
          </a:xfrm>
        </p:grpSpPr>
        <p:pic>
          <p:nvPicPr>
            <p:cNvPr id="26" name="Graphic 25" descr="Handshake with solid fill">
              <a:extLst>
                <a:ext uri="{FF2B5EF4-FFF2-40B4-BE49-F238E27FC236}">
                  <a16:creationId xmlns:a16="http://schemas.microsoft.com/office/drawing/2014/main" id="{F54F94F4-0771-3EB3-69E6-D96568A6E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1232" y="1249731"/>
              <a:ext cx="792000" cy="792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597B0B-298B-7BF2-0021-29B5756379C3}"/>
                </a:ext>
              </a:extLst>
            </p:cNvPr>
            <p:cNvSpPr txBox="1"/>
            <p:nvPr/>
          </p:nvSpPr>
          <p:spPr>
            <a:xfrm>
              <a:off x="883949" y="1810898"/>
              <a:ext cx="446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ernard MT Condensed" panose="02050806060905020404" pitchFamily="18" charset="0"/>
                </a:rPr>
                <a:t>01</a:t>
              </a:r>
              <a:endParaRPr lang="en-IN" sz="2000" dirty="0">
                <a:latin typeface="Bernard MT Condensed" panose="02050806060905020404" pitchFamily="18" charset="0"/>
              </a:endParaRPr>
            </a:p>
          </p:txBody>
        </p:sp>
      </p:grp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840830" y="-54896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IDEA-FARMBRIDGE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4993" y="72269"/>
            <a:ext cx="1398632" cy="807334"/>
          </a:xfrm>
          <a:prstGeom prst="ellipse">
            <a:avLst/>
          </a:prstGeom>
          <a:solidFill>
            <a:schemeClr val="lt1"/>
          </a:solidFill>
          <a:ln>
            <a:solidFill>
              <a:srgbClr val="759E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 Bytes Brigade</a:t>
            </a:r>
            <a:endParaRPr lang="en-IN" dirty="0"/>
          </a:p>
        </p:txBody>
      </p:sp>
      <p:pic>
        <p:nvPicPr>
          <p:cNvPr id="1026" name="Picture 2" descr="Sprout ">
            <a:extLst>
              <a:ext uri="{FF2B5EF4-FFF2-40B4-BE49-F238E27FC236}">
                <a16:creationId xmlns:a16="http://schemas.microsoft.com/office/drawing/2014/main" id="{F01F8609-1A69-B4EC-0676-864FB2BB1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133" y="5808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C51956B-188C-476E-6FDB-6BB4859B7E5F}"/>
              </a:ext>
            </a:extLst>
          </p:cNvPr>
          <p:cNvGrpSpPr/>
          <p:nvPr/>
        </p:nvGrpSpPr>
        <p:grpSpPr>
          <a:xfrm>
            <a:off x="626676" y="1257149"/>
            <a:ext cx="4021394" cy="1058611"/>
            <a:chOff x="626676" y="1257149"/>
            <a:chExt cx="4021394" cy="105861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FC0ABEB-C3BE-B636-3408-E6FA36EAC769}"/>
                </a:ext>
              </a:extLst>
            </p:cNvPr>
            <p:cNvSpPr/>
            <p:nvPr/>
          </p:nvSpPr>
          <p:spPr>
            <a:xfrm>
              <a:off x="626676" y="1293205"/>
              <a:ext cx="4021394" cy="1022555"/>
            </a:xfrm>
            <a:prstGeom prst="roundRect">
              <a:avLst>
                <a:gd name="adj" fmla="val 50000"/>
              </a:avLst>
            </a:prstGeom>
            <a:solidFill>
              <a:srgbClr val="3D7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938E55-2529-46D7-FFD9-527ECCA417DF}"/>
                </a:ext>
              </a:extLst>
            </p:cNvPr>
            <p:cNvSpPr txBox="1"/>
            <p:nvPr/>
          </p:nvSpPr>
          <p:spPr>
            <a:xfrm>
              <a:off x="1107232" y="1257149"/>
              <a:ext cx="32091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  <a:latin typeface="Sitka Small Semibold" pitchFamily="2" charset="0"/>
                </a:rPr>
                <a:t>Direct Market Access</a:t>
              </a:r>
              <a:endParaRPr lang="en-IN" sz="2000" b="1" u="sng" dirty="0">
                <a:solidFill>
                  <a:schemeClr val="bg1"/>
                </a:solidFill>
                <a:latin typeface="Sitka Small Semibold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9BEA74-0FBB-2CBF-041D-06A141611996}"/>
                </a:ext>
              </a:extLst>
            </p:cNvPr>
            <p:cNvSpPr txBox="1"/>
            <p:nvPr/>
          </p:nvSpPr>
          <p:spPr>
            <a:xfrm>
              <a:off x="1013438" y="1611512"/>
              <a:ext cx="3430743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The app enables farmers to connect directly with consumers and retailers, bypassing intermediaries for increased profitability.</a:t>
              </a:r>
              <a:endParaRPr lang="en-IN" sz="13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5398" name="Group 15397">
            <a:extLst>
              <a:ext uri="{FF2B5EF4-FFF2-40B4-BE49-F238E27FC236}">
                <a16:creationId xmlns:a16="http://schemas.microsoft.com/office/drawing/2014/main" id="{2F9695FF-4B6F-1B32-0354-48303C63D23F}"/>
              </a:ext>
            </a:extLst>
          </p:cNvPr>
          <p:cNvGrpSpPr/>
          <p:nvPr/>
        </p:nvGrpSpPr>
        <p:grpSpPr>
          <a:xfrm>
            <a:off x="4151458" y="2589429"/>
            <a:ext cx="2487562" cy="1022555"/>
            <a:chOff x="1199535" y="3348816"/>
            <a:chExt cx="2487562" cy="102255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5399" name="Rectangle: Rounded Corners 15398">
              <a:extLst>
                <a:ext uri="{FF2B5EF4-FFF2-40B4-BE49-F238E27FC236}">
                  <a16:creationId xmlns:a16="http://schemas.microsoft.com/office/drawing/2014/main" id="{4F85AAF5-C961-8BEA-906B-B45035615C12}"/>
                </a:ext>
              </a:extLst>
            </p:cNvPr>
            <p:cNvSpPr/>
            <p:nvPr/>
          </p:nvSpPr>
          <p:spPr>
            <a:xfrm>
              <a:off x="1199535" y="3348816"/>
              <a:ext cx="2487562" cy="10225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401" name="TextBox 15400">
              <a:extLst>
                <a:ext uri="{FF2B5EF4-FFF2-40B4-BE49-F238E27FC236}">
                  <a16:creationId xmlns:a16="http://schemas.microsoft.com/office/drawing/2014/main" id="{26B5DCD4-A4D2-A254-774C-5D088EC675FA}"/>
                </a:ext>
              </a:extLst>
            </p:cNvPr>
            <p:cNvSpPr txBox="1"/>
            <p:nvPr/>
          </p:nvSpPr>
          <p:spPr>
            <a:xfrm>
              <a:off x="1445341" y="3864518"/>
              <a:ext cx="72758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Bodoni MT Black" panose="02070A03080606020203" pitchFamily="18" charset="0"/>
                </a:rPr>
                <a:t>02</a:t>
              </a:r>
              <a:endParaRPr lang="en-IN" b="1" dirty="0">
                <a:latin typeface="Bodoni MT Black" panose="02070A03080606020203" pitchFamily="18" charset="0"/>
              </a:endParaRPr>
            </a:p>
          </p:txBody>
        </p:sp>
      </p:grpSp>
      <p:pic>
        <p:nvPicPr>
          <p:cNvPr id="1024" name="Graphic 1023" descr="Boardroom with solid fill">
            <a:extLst>
              <a:ext uri="{FF2B5EF4-FFF2-40B4-BE49-F238E27FC236}">
                <a16:creationId xmlns:a16="http://schemas.microsoft.com/office/drawing/2014/main" id="{B961EBA7-8C1F-31CC-6B5E-52AE2171C0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6120" y="2567630"/>
            <a:ext cx="720000" cy="720000"/>
          </a:xfrm>
          <a:prstGeom prst="rect">
            <a:avLst/>
          </a:prstGeom>
        </p:spPr>
      </p:pic>
      <p:grpSp>
        <p:nvGrpSpPr>
          <p:cNvPr id="15402" name="Group 15401">
            <a:extLst>
              <a:ext uri="{FF2B5EF4-FFF2-40B4-BE49-F238E27FC236}">
                <a16:creationId xmlns:a16="http://schemas.microsoft.com/office/drawing/2014/main" id="{968C6BBC-C924-EE11-D28B-E59D54DA319E}"/>
              </a:ext>
            </a:extLst>
          </p:cNvPr>
          <p:cNvGrpSpPr/>
          <p:nvPr/>
        </p:nvGrpSpPr>
        <p:grpSpPr>
          <a:xfrm>
            <a:off x="4280502" y="2559704"/>
            <a:ext cx="4021394" cy="1052281"/>
            <a:chOff x="626676" y="1263479"/>
            <a:chExt cx="4021394" cy="1052281"/>
          </a:xfrm>
        </p:grpSpPr>
        <p:sp>
          <p:nvSpPr>
            <p:cNvPr id="15403" name="Rectangle: Rounded Corners 15402">
              <a:extLst>
                <a:ext uri="{FF2B5EF4-FFF2-40B4-BE49-F238E27FC236}">
                  <a16:creationId xmlns:a16="http://schemas.microsoft.com/office/drawing/2014/main" id="{4823AD14-3668-70E3-4515-C140BA302489}"/>
                </a:ext>
              </a:extLst>
            </p:cNvPr>
            <p:cNvSpPr/>
            <p:nvPr/>
          </p:nvSpPr>
          <p:spPr>
            <a:xfrm>
              <a:off x="626676" y="1293205"/>
              <a:ext cx="4021394" cy="1022555"/>
            </a:xfrm>
            <a:prstGeom prst="roundRect">
              <a:avLst>
                <a:gd name="adj" fmla="val 50000"/>
              </a:avLst>
            </a:prstGeom>
            <a:solidFill>
              <a:srgbClr val="3D7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404" name="TextBox 15403">
              <a:extLst>
                <a:ext uri="{FF2B5EF4-FFF2-40B4-BE49-F238E27FC236}">
                  <a16:creationId xmlns:a16="http://schemas.microsoft.com/office/drawing/2014/main" id="{28EC312D-8E0A-728B-941E-A9B0A5C94196}"/>
                </a:ext>
              </a:extLst>
            </p:cNvPr>
            <p:cNvSpPr txBox="1"/>
            <p:nvPr/>
          </p:nvSpPr>
          <p:spPr>
            <a:xfrm>
              <a:off x="936843" y="1263479"/>
              <a:ext cx="34010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u="sng" dirty="0">
                  <a:solidFill>
                    <a:schemeClr val="bg1"/>
                  </a:solidFill>
                  <a:latin typeface="Sitka Small Semibold" pitchFamily="2" charset="0"/>
                </a:rPr>
                <a:t>User-Friendly Interface</a:t>
              </a:r>
            </a:p>
          </p:txBody>
        </p:sp>
        <p:sp>
          <p:nvSpPr>
            <p:cNvPr id="15405" name="TextBox 15404">
              <a:extLst>
                <a:ext uri="{FF2B5EF4-FFF2-40B4-BE49-F238E27FC236}">
                  <a16:creationId xmlns:a16="http://schemas.microsoft.com/office/drawing/2014/main" id="{4AA5917A-F007-BBB4-FB90-02FF11464CD5}"/>
                </a:ext>
              </a:extLst>
            </p:cNvPr>
            <p:cNvSpPr txBox="1"/>
            <p:nvPr/>
          </p:nvSpPr>
          <p:spPr>
            <a:xfrm>
              <a:off x="790355" y="1582970"/>
              <a:ext cx="3847471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Designed with simplicity in mind, the app ensures that farmers can easily navigate and manage their listings with minimal technical skills.</a:t>
              </a:r>
              <a:endParaRPr lang="en-IN" sz="13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2647EA-BC12-3AE7-1F17-789CECDDF005}"/>
              </a:ext>
            </a:extLst>
          </p:cNvPr>
          <p:cNvGrpSpPr/>
          <p:nvPr/>
        </p:nvGrpSpPr>
        <p:grpSpPr>
          <a:xfrm>
            <a:off x="509709" y="4083145"/>
            <a:ext cx="2487562" cy="1022555"/>
            <a:chOff x="509709" y="4083145"/>
            <a:chExt cx="2487562" cy="1022555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15374" name="Group 15373">
              <a:extLst>
                <a:ext uri="{FF2B5EF4-FFF2-40B4-BE49-F238E27FC236}">
                  <a16:creationId xmlns:a16="http://schemas.microsoft.com/office/drawing/2014/main" id="{CA11014F-4ADC-3298-0E9C-C77555B09B81}"/>
                </a:ext>
              </a:extLst>
            </p:cNvPr>
            <p:cNvGrpSpPr/>
            <p:nvPr/>
          </p:nvGrpSpPr>
          <p:grpSpPr>
            <a:xfrm>
              <a:off x="509709" y="4083145"/>
              <a:ext cx="2487562" cy="1022555"/>
              <a:chOff x="1199535" y="3348816"/>
              <a:chExt cx="2487562" cy="1022555"/>
            </a:xfrm>
            <a:grpFill/>
          </p:grpSpPr>
          <p:sp>
            <p:nvSpPr>
              <p:cNvPr id="15375" name="Rectangle: Rounded Corners 15374">
                <a:extLst>
                  <a:ext uri="{FF2B5EF4-FFF2-40B4-BE49-F238E27FC236}">
                    <a16:creationId xmlns:a16="http://schemas.microsoft.com/office/drawing/2014/main" id="{EF49230E-CABB-DC35-DA71-8675DDADA0C9}"/>
                  </a:ext>
                </a:extLst>
              </p:cNvPr>
              <p:cNvSpPr/>
              <p:nvPr/>
            </p:nvSpPr>
            <p:spPr>
              <a:xfrm>
                <a:off x="1199535" y="3348816"/>
                <a:ext cx="2487562" cy="102255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377" name="TextBox 15376">
                <a:extLst>
                  <a:ext uri="{FF2B5EF4-FFF2-40B4-BE49-F238E27FC236}">
                    <a16:creationId xmlns:a16="http://schemas.microsoft.com/office/drawing/2014/main" id="{E951F0BF-61F9-1238-3671-9EB37269CAFF}"/>
                  </a:ext>
                </a:extLst>
              </p:cNvPr>
              <p:cNvSpPr txBox="1"/>
              <p:nvPr/>
            </p:nvSpPr>
            <p:spPr>
              <a:xfrm>
                <a:off x="1445341" y="3864518"/>
                <a:ext cx="727588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Bodoni MT Black" panose="02070A03080606020203" pitchFamily="18" charset="0"/>
                  </a:rPr>
                  <a:t>03</a:t>
                </a:r>
                <a:endParaRPr lang="en-IN" b="1" dirty="0">
                  <a:latin typeface="Bodoni MT Black" panose="02070A03080606020203" pitchFamily="18" charset="0"/>
                </a:endParaRPr>
              </a:p>
            </p:txBody>
          </p:sp>
        </p:grpSp>
        <p:pic>
          <p:nvPicPr>
            <p:cNvPr id="15420" name="Picture 15419">
              <a:extLst>
                <a:ext uri="{FF2B5EF4-FFF2-40B4-BE49-F238E27FC236}">
                  <a16:creationId xmlns:a16="http://schemas.microsoft.com/office/drawing/2014/main" id="{33577E89-7300-A06A-25B6-5A5D6EA28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4309" y="4230885"/>
              <a:ext cx="360000" cy="360000"/>
            </a:xfrm>
            <a:prstGeom prst="rect">
              <a:avLst/>
            </a:prstGeom>
            <a:grpFill/>
          </p:spPr>
        </p:pic>
      </p:grpSp>
      <p:grpSp>
        <p:nvGrpSpPr>
          <p:cNvPr id="15378" name="Group 15377">
            <a:extLst>
              <a:ext uri="{FF2B5EF4-FFF2-40B4-BE49-F238E27FC236}">
                <a16:creationId xmlns:a16="http://schemas.microsoft.com/office/drawing/2014/main" id="{47995C92-DE2E-0AF0-5EA3-5D911BDB187A}"/>
              </a:ext>
            </a:extLst>
          </p:cNvPr>
          <p:cNvGrpSpPr/>
          <p:nvPr/>
        </p:nvGrpSpPr>
        <p:grpSpPr>
          <a:xfrm>
            <a:off x="638753" y="4075627"/>
            <a:ext cx="4651443" cy="1030074"/>
            <a:chOff x="626676" y="1285686"/>
            <a:chExt cx="4651443" cy="1030074"/>
          </a:xfrm>
        </p:grpSpPr>
        <p:sp>
          <p:nvSpPr>
            <p:cNvPr id="15379" name="Rectangle: Rounded Corners 15378">
              <a:extLst>
                <a:ext uri="{FF2B5EF4-FFF2-40B4-BE49-F238E27FC236}">
                  <a16:creationId xmlns:a16="http://schemas.microsoft.com/office/drawing/2014/main" id="{455D4B97-B21F-8085-B880-4432C6DD0C12}"/>
                </a:ext>
              </a:extLst>
            </p:cNvPr>
            <p:cNvSpPr/>
            <p:nvPr/>
          </p:nvSpPr>
          <p:spPr>
            <a:xfrm>
              <a:off x="626676" y="1293205"/>
              <a:ext cx="4021394" cy="1022555"/>
            </a:xfrm>
            <a:prstGeom prst="roundRect">
              <a:avLst>
                <a:gd name="adj" fmla="val 50000"/>
              </a:avLst>
            </a:prstGeom>
            <a:solidFill>
              <a:srgbClr val="3D7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380" name="TextBox 15379">
              <a:extLst>
                <a:ext uri="{FF2B5EF4-FFF2-40B4-BE49-F238E27FC236}">
                  <a16:creationId xmlns:a16="http://schemas.microsoft.com/office/drawing/2014/main" id="{9225451A-53D8-8168-7C56-995E103DF4E4}"/>
                </a:ext>
              </a:extLst>
            </p:cNvPr>
            <p:cNvSpPr txBox="1"/>
            <p:nvPr/>
          </p:nvSpPr>
          <p:spPr>
            <a:xfrm>
              <a:off x="950357" y="1285686"/>
              <a:ext cx="432776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b="1" u="sng" dirty="0">
                  <a:solidFill>
                    <a:schemeClr val="bg1"/>
                  </a:solidFill>
                  <a:latin typeface="Sitka Small Semibold" pitchFamily="2" charset="0"/>
                </a:rPr>
                <a:t>Wastage of food is reduced:</a:t>
              </a:r>
              <a:endParaRPr lang="en-IN" sz="1700" b="1" u="sng" dirty="0">
                <a:solidFill>
                  <a:schemeClr val="bg1"/>
                </a:solidFill>
                <a:latin typeface="Sitka Small Semibold" pitchFamily="2" charset="0"/>
              </a:endParaRPr>
            </a:p>
          </p:txBody>
        </p:sp>
        <p:sp>
          <p:nvSpPr>
            <p:cNvPr id="15381" name="TextBox 15380">
              <a:extLst>
                <a:ext uri="{FF2B5EF4-FFF2-40B4-BE49-F238E27FC236}">
                  <a16:creationId xmlns:a16="http://schemas.microsoft.com/office/drawing/2014/main" id="{200B2366-D39F-A2AB-2EEE-C3E0A4FD2347}"/>
                </a:ext>
              </a:extLst>
            </p:cNvPr>
            <p:cNvSpPr txBox="1"/>
            <p:nvPr/>
          </p:nvSpPr>
          <p:spPr>
            <a:xfrm>
              <a:off x="875025" y="1592443"/>
              <a:ext cx="3720643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By facilitating local transactions and showing the expiry date only to the farmer and they can sell the product throw online by viewing notification.</a:t>
              </a:r>
              <a:endParaRPr lang="en-IN" sz="13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5410" name="Group 15409">
            <a:extLst>
              <a:ext uri="{FF2B5EF4-FFF2-40B4-BE49-F238E27FC236}">
                <a16:creationId xmlns:a16="http://schemas.microsoft.com/office/drawing/2014/main" id="{12971CD9-758E-4CC1-7977-A232C118209E}"/>
              </a:ext>
            </a:extLst>
          </p:cNvPr>
          <p:cNvGrpSpPr/>
          <p:nvPr/>
        </p:nvGrpSpPr>
        <p:grpSpPr>
          <a:xfrm>
            <a:off x="4264308" y="5305556"/>
            <a:ext cx="2487562" cy="1022555"/>
            <a:chOff x="1199535" y="3348816"/>
            <a:chExt cx="2487562" cy="102255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5411" name="Rectangle: Rounded Corners 15410">
              <a:extLst>
                <a:ext uri="{FF2B5EF4-FFF2-40B4-BE49-F238E27FC236}">
                  <a16:creationId xmlns:a16="http://schemas.microsoft.com/office/drawing/2014/main" id="{D5EA962C-656C-3B18-5F81-6B275EF1C7F0}"/>
                </a:ext>
              </a:extLst>
            </p:cNvPr>
            <p:cNvSpPr/>
            <p:nvPr/>
          </p:nvSpPr>
          <p:spPr>
            <a:xfrm>
              <a:off x="1199535" y="3348816"/>
              <a:ext cx="2487562" cy="10225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413" name="TextBox 15412">
              <a:extLst>
                <a:ext uri="{FF2B5EF4-FFF2-40B4-BE49-F238E27FC236}">
                  <a16:creationId xmlns:a16="http://schemas.microsoft.com/office/drawing/2014/main" id="{0FD7FF75-0D1C-B880-7602-9D25FF31D02D}"/>
                </a:ext>
              </a:extLst>
            </p:cNvPr>
            <p:cNvSpPr txBox="1"/>
            <p:nvPr/>
          </p:nvSpPr>
          <p:spPr>
            <a:xfrm>
              <a:off x="1445341" y="3864518"/>
              <a:ext cx="72758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Bodoni MT Black" panose="02070A03080606020203" pitchFamily="18" charset="0"/>
                </a:rPr>
                <a:t>04</a:t>
              </a:r>
              <a:endParaRPr lang="en-IN" b="1" dirty="0">
                <a:latin typeface="Bodoni MT Black" panose="02070A03080606020203" pitchFamily="18" charset="0"/>
              </a:endParaRPr>
            </a:p>
          </p:txBody>
        </p:sp>
      </p:grpSp>
      <p:pic>
        <p:nvPicPr>
          <p:cNvPr id="1027" name="Graphic 1026" descr="Piggy Bank with solid fill">
            <a:extLst>
              <a:ext uri="{FF2B5EF4-FFF2-40B4-BE49-F238E27FC236}">
                <a16:creationId xmlns:a16="http://schemas.microsoft.com/office/drawing/2014/main" id="{BD7690A0-0A0B-EBAE-7D03-CD16C2114D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69140" y="5303095"/>
            <a:ext cx="612000" cy="612000"/>
          </a:xfrm>
          <a:prstGeom prst="rect">
            <a:avLst/>
          </a:prstGeom>
        </p:spPr>
      </p:pic>
      <p:grpSp>
        <p:nvGrpSpPr>
          <p:cNvPr id="15414" name="Group 15413">
            <a:extLst>
              <a:ext uri="{FF2B5EF4-FFF2-40B4-BE49-F238E27FC236}">
                <a16:creationId xmlns:a16="http://schemas.microsoft.com/office/drawing/2014/main" id="{ADB32E46-2936-1190-1E9F-FBD2EAAF40FC}"/>
              </a:ext>
            </a:extLst>
          </p:cNvPr>
          <p:cNvGrpSpPr/>
          <p:nvPr/>
        </p:nvGrpSpPr>
        <p:grpSpPr>
          <a:xfrm>
            <a:off x="4393352" y="5269501"/>
            <a:ext cx="4021394" cy="1062249"/>
            <a:chOff x="626676" y="1257149"/>
            <a:chExt cx="4021394" cy="1062249"/>
          </a:xfrm>
        </p:grpSpPr>
        <p:sp>
          <p:nvSpPr>
            <p:cNvPr id="15415" name="Rectangle: Rounded Corners 15414">
              <a:extLst>
                <a:ext uri="{FF2B5EF4-FFF2-40B4-BE49-F238E27FC236}">
                  <a16:creationId xmlns:a16="http://schemas.microsoft.com/office/drawing/2014/main" id="{7E8794CD-CAD8-10FE-0CA9-C69300ECE566}"/>
                </a:ext>
              </a:extLst>
            </p:cNvPr>
            <p:cNvSpPr/>
            <p:nvPr/>
          </p:nvSpPr>
          <p:spPr>
            <a:xfrm>
              <a:off x="626676" y="1293205"/>
              <a:ext cx="4021394" cy="1022555"/>
            </a:xfrm>
            <a:prstGeom prst="roundRect">
              <a:avLst>
                <a:gd name="adj" fmla="val 50000"/>
              </a:avLst>
            </a:prstGeom>
            <a:solidFill>
              <a:srgbClr val="3D73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416" name="TextBox 15415">
              <a:extLst>
                <a:ext uri="{FF2B5EF4-FFF2-40B4-BE49-F238E27FC236}">
                  <a16:creationId xmlns:a16="http://schemas.microsoft.com/office/drawing/2014/main" id="{DBAC5E1A-E60D-4797-F4CF-E4E1D9F91D6C}"/>
                </a:ext>
              </a:extLst>
            </p:cNvPr>
            <p:cNvSpPr txBox="1"/>
            <p:nvPr/>
          </p:nvSpPr>
          <p:spPr>
            <a:xfrm>
              <a:off x="893868" y="1257149"/>
              <a:ext cx="36698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u="sng" dirty="0">
                  <a:solidFill>
                    <a:schemeClr val="bg1"/>
                  </a:solidFill>
                  <a:latin typeface="Sitka Small Semibold" pitchFamily="2" charset="0"/>
                </a:rPr>
                <a:t>Self-Determined Pricing</a:t>
              </a:r>
            </a:p>
          </p:txBody>
        </p:sp>
        <p:sp>
          <p:nvSpPr>
            <p:cNvPr id="15417" name="TextBox 15416">
              <a:extLst>
                <a:ext uri="{FF2B5EF4-FFF2-40B4-BE49-F238E27FC236}">
                  <a16:creationId xmlns:a16="http://schemas.microsoft.com/office/drawing/2014/main" id="{B8D417D2-3BD5-06D5-C376-AFEA5DC5CCE3}"/>
                </a:ext>
              </a:extLst>
            </p:cNvPr>
            <p:cNvSpPr txBox="1"/>
            <p:nvPr/>
          </p:nvSpPr>
          <p:spPr>
            <a:xfrm>
              <a:off x="1013438" y="1611512"/>
              <a:ext cx="36346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Farmers can set their own prices for their produce, giving them control to maximize their earnings based on market conditions</a:t>
              </a:r>
              <a:r>
                <a:rPr lang="en-US" sz="1400" dirty="0">
                  <a:solidFill>
                    <a:schemeClr val="bg1"/>
                  </a:solidFill>
                </a:rPr>
                <a:t>.</a:t>
              </a:r>
              <a:endParaRPr lang="en-IN" sz="13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204D218-AC00-1714-EF3B-DC09E64A21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1551" y="2707722"/>
            <a:ext cx="5460849" cy="248526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E1B21F-719E-F2B0-38AC-DCD1EFB96E4E}"/>
              </a:ext>
            </a:extLst>
          </p:cNvPr>
          <p:cNvCxnSpPr>
            <a:cxnSpLocks/>
          </p:cNvCxnSpPr>
          <p:nvPr/>
        </p:nvCxnSpPr>
        <p:spPr>
          <a:xfrm flipV="1">
            <a:off x="4151458" y="526250"/>
            <a:ext cx="4349838" cy="315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AA461F3-B3E1-3AF2-9720-BA63A6E60183}"/>
              </a:ext>
            </a:extLst>
          </p:cNvPr>
          <p:cNvSpPr/>
          <p:nvPr/>
        </p:nvSpPr>
        <p:spPr>
          <a:xfrm>
            <a:off x="8599439" y="485870"/>
            <a:ext cx="72000" cy="72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E149D75-3241-D02A-2EAC-5B193B1BA35A}"/>
              </a:ext>
            </a:extLst>
          </p:cNvPr>
          <p:cNvSpPr/>
          <p:nvPr/>
        </p:nvSpPr>
        <p:spPr>
          <a:xfrm>
            <a:off x="8719600" y="503870"/>
            <a:ext cx="36000" cy="36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decel="50000" fill="hold" nodeType="clickEffect" p14:presetBounceEnd="2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95833E-6 3.33333E-6 L 0.09127 0.00324 " pathEditMode="relative" rAng="0" ptsTypes="AA" p14:bounceEnd="26000">
                                          <p:cBhvr>
                                            <p:cTn id="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557" y="1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63" presetClass="path" presetSubtype="0" decel="50000" fill="hold" nodeType="clickEffect" p14:presetBounceEnd="2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1.48148E-6 L 0.08737 0.00301 " pathEditMode="relative" rAng="0" ptsTypes="AA" p14:bounceEnd="26000">
                                          <p:cBhvr>
                                            <p:cTn id="10" dur="500" fill="hold"/>
                                            <p:tgtEl>
                                              <p:spTgt spid="1540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362" y="13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63" presetClass="path" presetSubtype="0" decel="50000" fill="hold" nodeType="clickEffect" p14:presetBounceEnd="2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04167E-6 -2.96296E-6 L 0.09128 0.00324 " pathEditMode="relative" rAng="0" ptsTypes="AA" p14:bounceEnd="26000">
                                          <p:cBhvr>
                                            <p:cTn id="14" dur="500" fill="hold"/>
                                            <p:tgtEl>
                                              <p:spTgt spid="1537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557" y="1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63" presetClass="path" presetSubtype="0" decel="50000" fill="hold" nodeType="clickEffect" p14:presetBounceEnd="26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95833E-6 3.33333E-6 L 0.09127 0.00324 " pathEditMode="relative" rAng="0" ptsTypes="AA" p14:bounceEnd="26000">
                                          <p:cBhvr>
                                            <p:cTn id="18" dur="500" fill="hold"/>
                                            <p:tgtEl>
                                              <p:spTgt spid="154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557" y="1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95833E-6 3.33333E-6 L 0.09127 0.00324 " pathEditMode="relative" rAng="0" ptsTypes="AA">
                                          <p:cBhvr>
                                            <p:cTn id="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557" y="1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63" presetClass="path" presetSubtype="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1.48148E-6 L 0.08737 0.00301 " pathEditMode="relative" rAng="0" ptsTypes="AA">
                                          <p:cBhvr>
                                            <p:cTn id="10" dur="500" fill="hold"/>
                                            <p:tgtEl>
                                              <p:spTgt spid="1540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362" y="13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63" presetClass="path" presetSubtype="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04167E-6 -2.96296E-6 L 0.09128 0.00324 " pathEditMode="relative" rAng="0" ptsTypes="AA">
                                          <p:cBhvr>
                                            <p:cTn id="14" dur="500" fill="hold"/>
                                            <p:tgtEl>
                                              <p:spTgt spid="1537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557" y="1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63" presetClass="path" presetSubtype="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3.95833E-6 3.33333E-6 L 0.09127 0.00324 " pathEditMode="relative" rAng="0" ptsTypes="AA">
                                          <p:cBhvr>
                                            <p:cTn id="18" dur="500" fill="hold"/>
                                            <p:tgtEl>
                                              <p:spTgt spid="154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557" y="1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-8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63398" y="-3197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24" y="83358"/>
            <a:ext cx="1398359" cy="807334"/>
          </a:xfrm>
          <a:prstGeom prst="ellipse">
            <a:avLst/>
          </a:prstGeom>
          <a:ln>
            <a:solidFill>
              <a:srgbClr val="759E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Bytes Brigade</a:t>
            </a:r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8CC480-7453-E234-D6BE-AF46E6B37F85}"/>
              </a:ext>
            </a:extLst>
          </p:cNvPr>
          <p:cNvGrpSpPr/>
          <p:nvPr/>
        </p:nvGrpSpPr>
        <p:grpSpPr>
          <a:xfrm>
            <a:off x="485933" y="1065739"/>
            <a:ext cx="2184678" cy="2374010"/>
            <a:chOff x="485933" y="1065739"/>
            <a:chExt cx="2184678" cy="23740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3F7C69F-E414-DB22-8D82-9ACF98421BB5}"/>
                </a:ext>
              </a:extLst>
            </p:cNvPr>
            <p:cNvSpPr/>
            <p:nvPr/>
          </p:nvSpPr>
          <p:spPr>
            <a:xfrm rot="2700000">
              <a:off x="485933" y="1279749"/>
              <a:ext cx="2160000" cy="2160000"/>
            </a:xfrm>
            <a:prstGeom prst="round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endParaRPr>
            </a:p>
          </p:txBody>
        </p:sp>
        <p:pic>
          <p:nvPicPr>
            <p:cNvPr id="2062" name="Picture 14">
              <a:extLst>
                <a:ext uri="{FF2B5EF4-FFF2-40B4-BE49-F238E27FC236}">
                  <a16:creationId xmlns:a16="http://schemas.microsoft.com/office/drawing/2014/main" id="{B4F71624-ACE2-47FF-AFAB-0F8C31EB89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3041" y="1065739"/>
              <a:ext cx="612000" cy="6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80CC81CA-8A4C-8288-104F-A9A9A6189C9E}"/>
                </a:ext>
              </a:extLst>
            </p:cNvPr>
            <p:cNvSpPr txBox="1"/>
            <p:nvPr/>
          </p:nvSpPr>
          <p:spPr>
            <a:xfrm>
              <a:off x="867117" y="1676010"/>
              <a:ext cx="1339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  </a:t>
              </a:r>
              <a:r>
                <a:rPr lang="en-US" dirty="0">
                  <a:latin typeface="Eras Bold ITC" panose="020B0907030504020204" pitchFamily="34" charset="0"/>
                </a:rPr>
                <a:t>FIGMA</a:t>
              </a:r>
              <a:endParaRPr lang="en-IN" dirty="0">
                <a:latin typeface="Eras Bold ITC" panose="020B0907030504020204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B450176-8C68-2858-85F0-1CCF1B509791}"/>
                </a:ext>
              </a:extLst>
            </p:cNvPr>
            <p:cNvSpPr txBox="1"/>
            <p:nvPr/>
          </p:nvSpPr>
          <p:spPr>
            <a:xfrm>
              <a:off x="747557" y="2275356"/>
              <a:ext cx="1923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 Variable Small Semibol" pitchFamily="2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UI/UX DESIGN</a:t>
              </a:r>
              <a:endParaRPr lang="en-IN" dirty="0">
                <a:latin typeface="Segoe UI Variable Small Semibol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B9A8D0-7FAC-8042-C77A-30298C2B3FE2}"/>
              </a:ext>
            </a:extLst>
          </p:cNvPr>
          <p:cNvGrpSpPr/>
          <p:nvPr/>
        </p:nvGrpSpPr>
        <p:grpSpPr>
          <a:xfrm>
            <a:off x="2913739" y="962577"/>
            <a:ext cx="3421388" cy="2440256"/>
            <a:chOff x="2913739" y="962577"/>
            <a:chExt cx="3421388" cy="244025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6FC6EFF-B47A-3C16-1858-A5E601FF6BBB}"/>
                </a:ext>
              </a:extLst>
            </p:cNvPr>
            <p:cNvSpPr/>
            <p:nvPr/>
          </p:nvSpPr>
          <p:spPr>
            <a:xfrm rot="2700000">
              <a:off x="4175127" y="1176494"/>
              <a:ext cx="2160000" cy="2160000"/>
            </a:xfrm>
            <a:prstGeom prst="round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Segoe UI Variable Small Semibol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883E15-A34B-DC83-C5D1-C6E736D87559}"/>
                </a:ext>
              </a:extLst>
            </p:cNvPr>
            <p:cNvSpPr/>
            <p:nvPr/>
          </p:nvSpPr>
          <p:spPr>
            <a:xfrm rot="18900000">
              <a:off x="2913739" y="2209721"/>
              <a:ext cx="1124145" cy="1193112"/>
            </a:xfrm>
            <a:custGeom>
              <a:avLst/>
              <a:gdLst>
                <a:gd name="connsiteX0" fmla="*/ 890145 w 1124145"/>
                <a:gd name="connsiteY0" fmla="*/ 509112 h 1193112"/>
                <a:gd name="connsiteX1" fmla="*/ 1124145 w 1124145"/>
                <a:gd name="connsiteY1" fmla="*/ 851112 h 1193112"/>
                <a:gd name="connsiteX2" fmla="*/ 890145 w 1124145"/>
                <a:gd name="connsiteY2" fmla="*/ 1193112 h 1193112"/>
                <a:gd name="connsiteX3" fmla="*/ 656145 w 1124145"/>
                <a:gd name="connsiteY3" fmla="*/ 1193112 h 1193112"/>
                <a:gd name="connsiteX4" fmla="*/ 827883 w 1124145"/>
                <a:gd name="connsiteY4" fmla="*/ 942110 h 1193112"/>
                <a:gd name="connsiteX5" fmla="*/ 360007 w 1124145"/>
                <a:gd name="connsiteY5" fmla="*/ 942110 h 1193112"/>
                <a:gd name="connsiteX6" fmla="*/ 0 w 1124145"/>
                <a:gd name="connsiteY6" fmla="*/ 582103 h 1193112"/>
                <a:gd name="connsiteX7" fmla="*/ 0 w 1124145"/>
                <a:gd name="connsiteY7" fmla="*/ 0 h 1193112"/>
                <a:gd name="connsiteX8" fmla="*/ 190022 w 1124145"/>
                <a:gd name="connsiteY8" fmla="*/ 0 h 1193112"/>
                <a:gd name="connsiteX9" fmla="*/ 190022 w 1124145"/>
                <a:gd name="connsiteY9" fmla="*/ 520676 h 1193112"/>
                <a:gd name="connsiteX10" fmla="*/ 421434 w 1124145"/>
                <a:gd name="connsiteY10" fmla="*/ 752088 h 1193112"/>
                <a:gd name="connsiteX11" fmla="*/ 822392 w 1124145"/>
                <a:gd name="connsiteY11" fmla="*/ 752088 h 1193112"/>
                <a:gd name="connsiteX12" fmla="*/ 656145 w 1124145"/>
                <a:gd name="connsiteY12" fmla="*/ 509112 h 1193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4145" h="1193112">
                  <a:moveTo>
                    <a:pt x="890145" y="509112"/>
                  </a:moveTo>
                  <a:lnTo>
                    <a:pt x="1124145" y="851112"/>
                  </a:lnTo>
                  <a:lnTo>
                    <a:pt x="890145" y="1193112"/>
                  </a:lnTo>
                  <a:lnTo>
                    <a:pt x="656145" y="1193112"/>
                  </a:lnTo>
                  <a:lnTo>
                    <a:pt x="827883" y="942110"/>
                  </a:lnTo>
                  <a:lnTo>
                    <a:pt x="360007" y="942110"/>
                  </a:lnTo>
                  <a:cubicBezTo>
                    <a:pt x="161181" y="942110"/>
                    <a:pt x="0" y="780929"/>
                    <a:pt x="0" y="582103"/>
                  </a:cubicBezTo>
                  <a:lnTo>
                    <a:pt x="0" y="0"/>
                  </a:lnTo>
                  <a:lnTo>
                    <a:pt x="190022" y="0"/>
                  </a:lnTo>
                  <a:lnTo>
                    <a:pt x="190022" y="520676"/>
                  </a:lnTo>
                  <a:cubicBezTo>
                    <a:pt x="190022" y="648481"/>
                    <a:pt x="293629" y="752088"/>
                    <a:pt x="421434" y="752088"/>
                  </a:cubicBezTo>
                  <a:lnTo>
                    <a:pt x="822392" y="752088"/>
                  </a:lnTo>
                  <a:lnTo>
                    <a:pt x="656145" y="509112"/>
                  </a:lnTo>
                  <a:close/>
                </a:path>
              </a:pathLst>
            </a:custGeom>
            <a:solidFill>
              <a:srgbClr val="6F3413"/>
            </a:solidFill>
            <a:ln>
              <a:solidFill>
                <a:srgbClr val="3D6D0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E82F2F7B-AE5A-B51A-A44D-7F3671C40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5128" y="962577"/>
              <a:ext cx="72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A64EC9E6-ED64-6210-8B04-4D711FFA0196}"/>
                </a:ext>
              </a:extLst>
            </p:cNvPr>
            <p:cNvSpPr txBox="1"/>
            <p:nvPr/>
          </p:nvSpPr>
          <p:spPr>
            <a:xfrm>
              <a:off x="4648200" y="1342715"/>
              <a:ext cx="1283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</a:t>
              </a:r>
              <a:r>
                <a:rPr lang="en-US" dirty="0">
                  <a:latin typeface="Eras Bold ITC" panose="020B0907030504020204" pitchFamily="34" charset="0"/>
                </a:rPr>
                <a:t>FLUTTER</a:t>
              </a:r>
              <a:r>
                <a:rPr lang="en-US" dirty="0"/>
                <a:t> </a:t>
              </a:r>
              <a:endParaRPr lang="en-IN" dirty="0">
                <a:latin typeface="Eras Bold ITC" panose="020B0907030504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3C2FA3A-0ED1-A059-3B87-4821E1103BF0}"/>
                </a:ext>
              </a:extLst>
            </p:cNvPr>
            <p:cNvSpPr txBox="1"/>
            <p:nvPr/>
          </p:nvSpPr>
          <p:spPr>
            <a:xfrm>
              <a:off x="4626523" y="2261953"/>
              <a:ext cx="168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 Variable Small Semibol" pitchFamily="2" charset="0"/>
                </a:rPr>
                <a:t>FRONTEND</a:t>
              </a:r>
              <a:endParaRPr lang="en-IN" dirty="0">
                <a:latin typeface="Segoe UI Variable Small Semibol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8853A0-1009-5636-F6F2-2F523D52A43F}"/>
              </a:ext>
            </a:extLst>
          </p:cNvPr>
          <p:cNvGrpSpPr/>
          <p:nvPr/>
        </p:nvGrpSpPr>
        <p:grpSpPr>
          <a:xfrm>
            <a:off x="6628263" y="941230"/>
            <a:ext cx="3267987" cy="2362161"/>
            <a:chOff x="6628263" y="941230"/>
            <a:chExt cx="3267987" cy="2362161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6AC0E89-F023-6282-25CD-1FB1B31D1C91}"/>
                </a:ext>
              </a:extLst>
            </p:cNvPr>
            <p:cNvSpPr/>
            <p:nvPr/>
          </p:nvSpPr>
          <p:spPr>
            <a:xfrm rot="2700000">
              <a:off x="7713946" y="941230"/>
              <a:ext cx="2160000" cy="2160000"/>
            </a:xfrm>
            <a:prstGeom prst="round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AB9A01B-8529-ECC1-7DB1-6D047058AA1C}"/>
                </a:ext>
              </a:extLst>
            </p:cNvPr>
            <p:cNvSpPr/>
            <p:nvPr/>
          </p:nvSpPr>
          <p:spPr>
            <a:xfrm rot="18900000">
              <a:off x="6628263" y="2110279"/>
              <a:ext cx="1124145" cy="1193112"/>
            </a:xfrm>
            <a:custGeom>
              <a:avLst/>
              <a:gdLst>
                <a:gd name="connsiteX0" fmla="*/ 890145 w 1124145"/>
                <a:gd name="connsiteY0" fmla="*/ 509112 h 1193112"/>
                <a:gd name="connsiteX1" fmla="*/ 1124145 w 1124145"/>
                <a:gd name="connsiteY1" fmla="*/ 851112 h 1193112"/>
                <a:gd name="connsiteX2" fmla="*/ 890145 w 1124145"/>
                <a:gd name="connsiteY2" fmla="*/ 1193112 h 1193112"/>
                <a:gd name="connsiteX3" fmla="*/ 656145 w 1124145"/>
                <a:gd name="connsiteY3" fmla="*/ 1193112 h 1193112"/>
                <a:gd name="connsiteX4" fmla="*/ 827883 w 1124145"/>
                <a:gd name="connsiteY4" fmla="*/ 942110 h 1193112"/>
                <a:gd name="connsiteX5" fmla="*/ 360007 w 1124145"/>
                <a:gd name="connsiteY5" fmla="*/ 942110 h 1193112"/>
                <a:gd name="connsiteX6" fmla="*/ 0 w 1124145"/>
                <a:gd name="connsiteY6" fmla="*/ 582103 h 1193112"/>
                <a:gd name="connsiteX7" fmla="*/ 0 w 1124145"/>
                <a:gd name="connsiteY7" fmla="*/ 0 h 1193112"/>
                <a:gd name="connsiteX8" fmla="*/ 190022 w 1124145"/>
                <a:gd name="connsiteY8" fmla="*/ 0 h 1193112"/>
                <a:gd name="connsiteX9" fmla="*/ 190022 w 1124145"/>
                <a:gd name="connsiteY9" fmla="*/ 520676 h 1193112"/>
                <a:gd name="connsiteX10" fmla="*/ 421434 w 1124145"/>
                <a:gd name="connsiteY10" fmla="*/ 752088 h 1193112"/>
                <a:gd name="connsiteX11" fmla="*/ 822392 w 1124145"/>
                <a:gd name="connsiteY11" fmla="*/ 752088 h 1193112"/>
                <a:gd name="connsiteX12" fmla="*/ 656145 w 1124145"/>
                <a:gd name="connsiteY12" fmla="*/ 509112 h 1193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4145" h="1193112">
                  <a:moveTo>
                    <a:pt x="890145" y="509112"/>
                  </a:moveTo>
                  <a:lnTo>
                    <a:pt x="1124145" y="851112"/>
                  </a:lnTo>
                  <a:lnTo>
                    <a:pt x="890145" y="1193112"/>
                  </a:lnTo>
                  <a:lnTo>
                    <a:pt x="656145" y="1193112"/>
                  </a:lnTo>
                  <a:lnTo>
                    <a:pt x="827883" y="942110"/>
                  </a:lnTo>
                  <a:lnTo>
                    <a:pt x="360007" y="942110"/>
                  </a:lnTo>
                  <a:cubicBezTo>
                    <a:pt x="161181" y="942110"/>
                    <a:pt x="0" y="780929"/>
                    <a:pt x="0" y="582103"/>
                  </a:cubicBezTo>
                  <a:lnTo>
                    <a:pt x="0" y="0"/>
                  </a:lnTo>
                  <a:lnTo>
                    <a:pt x="190022" y="0"/>
                  </a:lnTo>
                  <a:lnTo>
                    <a:pt x="190022" y="520676"/>
                  </a:lnTo>
                  <a:cubicBezTo>
                    <a:pt x="190022" y="648481"/>
                    <a:pt x="293629" y="752088"/>
                    <a:pt x="421434" y="752088"/>
                  </a:cubicBezTo>
                  <a:lnTo>
                    <a:pt x="822392" y="752088"/>
                  </a:lnTo>
                  <a:lnTo>
                    <a:pt x="656145" y="509112"/>
                  </a:lnTo>
                  <a:close/>
                </a:path>
              </a:pathLst>
            </a:custGeom>
            <a:solidFill>
              <a:srgbClr val="6F3413"/>
            </a:solidFill>
            <a:ln>
              <a:solidFill>
                <a:srgbClr val="3D6D0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pic>
          <p:nvPicPr>
            <p:cNvPr id="2054" name="Picture 6" descr="Node.js">
              <a:extLst>
                <a:ext uri="{FF2B5EF4-FFF2-40B4-BE49-F238E27FC236}">
                  <a16:creationId xmlns:a16="http://schemas.microsoft.com/office/drawing/2014/main" id="{4FC0E48B-E130-C36F-78A4-8F9D18C68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9145" y="991278"/>
              <a:ext cx="929601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51" name="TextBox 2050">
              <a:extLst>
                <a:ext uri="{FF2B5EF4-FFF2-40B4-BE49-F238E27FC236}">
                  <a16:creationId xmlns:a16="http://schemas.microsoft.com/office/drawing/2014/main" id="{CE890CBF-C1A4-4E39-0ECB-EB6D7B8E004F}"/>
                </a:ext>
              </a:extLst>
            </p:cNvPr>
            <p:cNvSpPr txBox="1"/>
            <p:nvPr/>
          </p:nvSpPr>
          <p:spPr>
            <a:xfrm>
              <a:off x="8010419" y="1351568"/>
              <a:ext cx="1515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 </a:t>
              </a:r>
              <a:r>
                <a:rPr lang="en-US" dirty="0">
                  <a:latin typeface="Eras Bold ITC" panose="020B0907030504020204" pitchFamily="34" charset="0"/>
                </a:rPr>
                <a:t>NODE JS</a:t>
              </a:r>
              <a:r>
                <a:rPr lang="en-US" dirty="0"/>
                <a:t> </a:t>
              </a:r>
              <a:endParaRPr lang="en-IN" dirty="0">
                <a:latin typeface="Eras Bold ITC" panose="020B0907030504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5D7290-0DDD-7726-0FB5-647B2F3A7A13}"/>
                </a:ext>
              </a:extLst>
            </p:cNvPr>
            <p:cNvSpPr txBox="1"/>
            <p:nvPr/>
          </p:nvSpPr>
          <p:spPr>
            <a:xfrm>
              <a:off x="8257701" y="2031423"/>
              <a:ext cx="1638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 Variable Small Semibol" pitchFamily="2" charset="0"/>
                </a:rPr>
                <a:t>BACKEND</a:t>
              </a:r>
              <a:endParaRPr lang="en-IN" dirty="0">
                <a:latin typeface="Segoe UI Variable Small Semibol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8E41B8-0AC1-7BD2-D692-1EA255DC0F57}"/>
              </a:ext>
            </a:extLst>
          </p:cNvPr>
          <p:cNvGrpSpPr/>
          <p:nvPr/>
        </p:nvGrpSpPr>
        <p:grpSpPr>
          <a:xfrm>
            <a:off x="9495883" y="1984865"/>
            <a:ext cx="2511376" cy="3734261"/>
            <a:chOff x="9495883" y="1984865"/>
            <a:chExt cx="2511376" cy="373426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7F22F0D-4580-F344-32C5-B2385F7BC4E5}"/>
                </a:ext>
              </a:extLst>
            </p:cNvPr>
            <p:cNvSpPr/>
            <p:nvPr/>
          </p:nvSpPr>
          <p:spPr>
            <a:xfrm rot="2700000">
              <a:off x="9601654" y="3559126"/>
              <a:ext cx="2160000" cy="2160000"/>
            </a:xfrm>
            <a:prstGeom prst="round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72F9988-063A-8B8C-FEE2-9F1D0D8034D8}"/>
                </a:ext>
              </a:extLst>
            </p:cNvPr>
            <p:cNvSpPr/>
            <p:nvPr/>
          </p:nvSpPr>
          <p:spPr>
            <a:xfrm rot="5400000" flipV="1">
              <a:off x="9933333" y="2200865"/>
              <a:ext cx="1296000" cy="864000"/>
            </a:xfrm>
            <a:custGeom>
              <a:avLst/>
              <a:gdLst>
                <a:gd name="connsiteX0" fmla="*/ 890145 w 1124145"/>
                <a:gd name="connsiteY0" fmla="*/ 509112 h 1193112"/>
                <a:gd name="connsiteX1" fmla="*/ 1124145 w 1124145"/>
                <a:gd name="connsiteY1" fmla="*/ 851112 h 1193112"/>
                <a:gd name="connsiteX2" fmla="*/ 890145 w 1124145"/>
                <a:gd name="connsiteY2" fmla="*/ 1193112 h 1193112"/>
                <a:gd name="connsiteX3" fmla="*/ 656145 w 1124145"/>
                <a:gd name="connsiteY3" fmla="*/ 1193112 h 1193112"/>
                <a:gd name="connsiteX4" fmla="*/ 827883 w 1124145"/>
                <a:gd name="connsiteY4" fmla="*/ 942110 h 1193112"/>
                <a:gd name="connsiteX5" fmla="*/ 360007 w 1124145"/>
                <a:gd name="connsiteY5" fmla="*/ 942110 h 1193112"/>
                <a:gd name="connsiteX6" fmla="*/ 0 w 1124145"/>
                <a:gd name="connsiteY6" fmla="*/ 582103 h 1193112"/>
                <a:gd name="connsiteX7" fmla="*/ 0 w 1124145"/>
                <a:gd name="connsiteY7" fmla="*/ 0 h 1193112"/>
                <a:gd name="connsiteX8" fmla="*/ 190022 w 1124145"/>
                <a:gd name="connsiteY8" fmla="*/ 0 h 1193112"/>
                <a:gd name="connsiteX9" fmla="*/ 190022 w 1124145"/>
                <a:gd name="connsiteY9" fmla="*/ 520676 h 1193112"/>
                <a:gd name="connsiteX10" fmla="*/ 421434 w 1124145"/>
                <a:gd name="connsiteY10" fmla="*/ 752088 h 1193112"/>
                <a:gd name="connsiteX11" fmla="*/ 822392 w 1124145"/>
                <a:gd name="connsiteY11" fmla="*/ 752088 h 1193112"/>
                <a:gd name="connsiteX12" fmla="*/ 656145 w 1124145"/>
                <a:gd name="connsiteY12" fmla="*/ 509112 h 1193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4145" h="1193112">
                  <a:moveTo>
                    <a:pt x="890145" y="509112"/>
                  </a:moveTo>
                  <a:lnTo>
                    <a:pt x="1124145" y="851112"/>
                  </a:lnTo>
                  <a:lnTo>
                    <a:pt x="890145" y="1193112"/>
                  </a:lnTo>
                  <a:lnTo>
                    <a:pt x="656145" y="1193112"/>
                  </a:lnTo>
                  <a:lnTo>
                    <a:pt x="827883" y="942110"/>
                  </a:lnTo>
                  <a:lnTo>
                    <a:pt x="360007" y="942110"/>
                  </a:lnTo>
                  <a:cubicBezTo>
                    <a:pt x="161181" y="942110"/>
                    <a:pt x="0" y="780929"/>
                    <a:pt x="0" y="582103"/>
                  </a:cubicBezTo>
                  <a:lnTo>
                    <a:pt x="0" y="0"/>
                  </a:lnTo>
                  <a:lnTo>
                    <a:pt x="190022" y="0"/>
                  </a:lnTo>
                  <a:lnTo>
                    <a:pt x="190022" y="520676"/>
                  </a:lnTo>
                  <a:cubicBezTo>
                    <a:pt x="190022" y="648481"/>
                    <a:pt x="293629" y="752088"/>
                    <a:pt x="421434" y="752088"/>
                  </a:cubicBezTo>
                  <a:lnTo>
                    <a:pt x="822392" y="752088"/>
                  </a:lnTo>
                  <a:lnTo>
                    <a:pt x="656145" y="509112"/>
                  </a:lnTo>
                  <a:close/>
                </a:path>
              </a:pathLst>
            </a:custGeom>
            <a:solidFill>
              <a:srgbClr val="6F3413"/>
            </a:solidFill>
            <a:ln>
              <a:solidFill>
                <a:srgbClr val="3D6D0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E485051D-5550-944E-6C66-F6D7CA44C3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8444" y="3625552"/>
              <a:ext cx="864000" cy="4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5E9093F5-8678-0377-DFD1-CC5C4271A389}"/>
                </a:ext>
              </a:extLst>
            </p:cNvPr>
            <p:cNvSpPr txBox="1"/>
            <p:nvPr/>
          </p:nvSpPr>
          <p:spPr>
            <a:xfrm>
              <a:off x="9866945" y="4133628"/>
              <a:ext cx="1769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</a:t>
              </a:r>
              <a:r>
                <a:rPr lang="en-US" dirty="0">
                  <a:latin typeface="Eras Bold ITC" panose="020B0907030504020204" pitchFamily="34" charset="0"/>
                </a:rPr>
                <a:t>FIREBASE</a:t>
              </a:r>
              <a:endParaRPr lang="en-IN" dirty="0">
                <a:latin typeface="Eras Bold ITC" panose="020B0907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EC6B20-29B3-446A-6BF8-566C5D7BEF2F}"/>
                </a:ext>
              </a:extLst>
            </p:cNvPr>
            <p:cNvSpPr txBox="1"/>
            <p:nvPr/>
          </p:nvSpPr>
          <p:spPr>
            <a:xfrm>
              <a:off x="9495883" y="4710073"/>
              <a:ext cx="2511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 Variable Small Semibol" pitchFamily="2" charset="0"/>
                </a:rPr>
                <a:t>PUSH NOTIFICATION</a:t>
              </a:r>
              <a:endParaRPr lang="en-IN" dirty="0">
                <a:latin typeface="Segoe UI Variable Small Semibol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5588B0-170A-D4CF-1597-43DA08485872}"/>
              </a:ext>
            </a:extLst>
          </p:cNvPr>
          <p:cNvGrpSpPr/>
          <p:nvPr/>
        </p:nvGrpSpPr>
        <p:grpSpPr>
          <a:xfrm>
            <a:off x="2034522" y="3379126"/>
            <a:ext cx="3680760" cy="2473648"/>
            <a:chOff x="2034522" y="3379126"/>
            <a:chExt cx="3680760" cy="2473648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E5F9CDF-4462-7C6C-A64C-7C3888C17F28}"/>
                </a:ext>
              </a:extLst>
            </p:cNvPr>
            <p:cNvSpPr/>
            <p:nvPr/>
          </p:nvSpPr>
          <p:spPr>
            <a:xfrm rot="2700000">
              <a:off x="2034522" y="3691386"/>
              <a:ext cx="2160000" cy="2160000"/>
            </a:xfrm>
            <a:prstGeom prst="round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DBC8F1C-5849-4969-EC0F-51BC214B5188}"/>
                </a:ext>
              </a:extLst>
            </p:cNvPr>
            <p:cNvSpPr/>
            <p:nvPr/>
          </p:nvSpPr>
          <p:spPr>
            <a:xfrm rot="2700000">
              <a:off x="4421904" y="4559396"/>
              <a:ext cx="1230469" cy="1356287"/>
            </a:xfrm>
            <a:custGeom>
              <a:avLst/>
              <a:gdLst>
                <a:gd name="connsiteX0" fmla="*/ 180353 w 1230469"/>
                <a:gd name="connsiteY0" fmla="*/ 626048 h 1356287"/>
                <a:gd name="connsiteX1" fmla="*/ 458539 w 1230469"/>
                <a:gd name="connsiteY1" fmla="*/ 551508 h 1356287"/>
                <a:gd name="connsiteX2" fmla="*/ 334675 w 1230469"/>
                <a:gd name="connsiteY2" fmla="*/ 853462 h 1356287"/>
                <a:gd name="connsiteX3" fmla="*/ 870203 w 1230469"/>
                <a:gd name="connsiteY3" fmla="*/ 853462 h 1356287"/>
                <a:gd name="connsiteX4" fmla="*/ 1011208 w 1230469"/>
                <a:gd name="connsiteY4" fmla="*/ 712456 h 1356287"/>
                <a:gd name="connsiteX5" fmla="*/ 1011208 w 1230469"/>
                <a:gd name="connsiteY5" fmla="*/ 0 h 1356287"/>
                <a:gd name="connsiteX6" fmla="*/ 1230469 w 1230469"/>
                <a:gd name="connsiteY6" fmla="*/ 0 h 1356287"/>
                <a:gd name="connsiteX7" fmla="*/ 1230469 w 1230469"/>
                <a:gd name="connsiteY7" fmla="*/ 753356 h 1356287"/>
                <a:gd name="connsiteX8" fmla="*/ 870462 w 1230469"/>
                <a:gd name="connsiteY8" fmla="*/ 1113363 h 1356287"/>
                <a:gd name="connsiteX9" fmla="*/ 436311 w 1230469"/>
                <a:gd name="connsiteY9" fmla="*/ 1113363 h 1356287"/>
                <a:gd name="connsiteX10" fmla="*/ 654206 w 1230469"/>
                <a:gd name="connsiteY10" fmla="*/ 1281748 h 1356287"/>
                <a:gd name="connsiteX11" fmla="*/ 376020 w 1230469"/>
                <a:gd name="connsiteY11" fmla="*/ 1356287 h 1356287"/>
                <a:gd name="connsiteX12" fmla="*/ 0 w 1230469"/>
                <a:gd name="connsiteY12" fmla="*/ 1065708 h 135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0469" h="1356287">
                  <a:moveTo>
                    <a:pt x="180353" y="626048"/>
                  </a:moveTo>
                  <a:lnTo>
                    <a:pt x="458539" y="551508"/>
                  </a:lnTo>
                  <a:lnTo>
                    <a:pt x="334675" y="853462"/>
                  </a:lnTo>
                  <a:lnTo>
                    <a:pt x="870203" y="853462"/>
                  </a:lnTo>
                  <a:cubicBezTo>
                    <a:pt x="948078" y="853462"/>
                    <a:pt x="1011208" y="790332"/>
                    <a:pt x="1011208" y="712456"/>
                  </a:cubicBezTo>
                  <a:lnTo>
                    <a:pt x="1011208" y="0"/>
                  </a:lnTo>
                  <a:lnTo>
                    <a:pt x="1230469" y="0"/>
                  </a:lnTo>
                  <a:lnTo>
                    <a:pt x="1230469" y="753356"/>
                  </a:lnTo>
                  <a:cubicBezTo>
                    <a:pt x="1230469" y="952182"/>
                    <a:pt x="1069288" y="1113363"/>
                    <a:pt x="870462" y="1113363"/>
                  </a:cubicBezTo>
                  <a:lnTo>
                    <a:pt x="436311" y="1113363"/>
                  </a:lnTo>
                  <a:lnTo>
                    <a:pt x="654206" y="1281748"/>
                  </a:lnTo>
                  <a:lnTo>
                    <a:pt x="376020" y="1356287"/>
                  </a:lnTo>
                  <a:lnTo>
                    <a:pt x="0" y="1065708"/>
                  </a:lnTo>
                  <a:close/>
                </a:path>
              </a:pathLst>
            </a:custGeom>
            <a:solidFill>
              <a:srgbClr val="6F3413"/>
            </a:solidFill>
            <a:ln>
              <a:solidFill>
                <a:srgbClr val="3D6D0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4A75B735-A812-B929-5A62-685D07D639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3063" y="3379126"/>
              <a:ext cx="1922918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F53C5064-59BE-AAC2-E40E-EC68ECD118C7}"/>
                </a:ext>
              </a:extLst>
            </p:cNvPr>
            <p:cNvSpPr txBox="1"/>
            <p:nvPr/>
          </p:nvSpPr>
          <p:spPr>
            <a:xfrm>
              <a:off x="2380837" y="4209221"/>
              <a:ext cx="15228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ras Bold ITC" panose="020B0907030504020204" pitchFamily="34" charset="0"/>
                </a:rPr>
                <a:t>MONGODB</a:t>
              </a:r>
              <a:endParaRPr lang="en-IN" dirty="0">
                <a:latin typeface="Eras Bold ITC" panose="020B0907030504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2DDAE3-12FC-F692-F377-DDC8F42773A5}"/>
                </a:ext>
              </a:extLst>
            </p:cNvPr>
            <p:cNvSpPr txBox="1"/>
            <p:nvPr/>
          </p:nvSpPr>
          <p:spPr>
            <a:xfrm>
              <a:off x="2450029" y="4784938"/>
              <a:ext cx="134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 Variable Small Semibol" pitchFamily="2" charset="0"/>
                </a:rPr>
                <a:t>DATABASE</a:t>
              </a:r>
              <a:endParaRPr lang="en-IN" dirty="0">
                <a:latin typeface="Segoe UI Variable Small Semibol" pitchFamily="2" charset="0"/>
              </a:endParaRP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094A7D-8DCC-B21D-1073-0EE2E62ED93B}"/>
              </a:ext>
            </a:extLst>
          </p:cNvPr>
          <p:cNvCxnSpPr/>
          <p:nvPr/>
        </p:nvCxnSpPr>
        <p:spPr>
          <a:xfrm>
            <a:off x="3543579" y="493879"/>
            <a:ext cx="54014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533DD2B9-9220-D246-CB30-490A5B7CA6BE}"/>
              </a:ext>
            </a:extLst>
          </p:cNvPr>
          <p:cNvSpPr/>
          <p:nvPr/>
        </p:nvSpPr>
        <p:spPr>
          <a:xfrm>
            <a:off x="8979748" y="457879"/>
            <a:ext cx="72000" cy="72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C877EA51-D322-F57A-0D45-2F7A85564660}"/>
              </a:ext>
            </a:extLst>
          </p:cNvPr>
          <p:cNvSpPr/>
          <p:nvPr/>
        </p:nvSpPr>
        <p:spPr>
          <a:xfrm>
            <a:off x="9098212" y="475879"/>
            <a:ext cx="36000" cy="36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00CC19-E4E2-B02B-FCBE-85F529CF94A5}"/>
              </a:ext>
            </a:extLst>
          </p:cNvPr>
          <p:cNvGrpSpPr/>
          <p:nvPr/>
        </p:nvGrpSpPr>
        <p:grpSpPr>
          <a:xfrm>
            <a:off x="5773669" y="3595327"/>
            <a:ext cx="3686277" cy="2238650"/>
            <a:chOff x="5773669" y="3595327"/>
            <a:chExt cx="3686277" cy="223865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2724031-5044-5EC2-8BEB-63508CAC581E}"/>
                </a:ext>
              </a:extLst>
            </p:cNvPr>
            <p:cNvGrpSpPr/>
            <p:nvPr/>
          </p:nvGrpSpPr>
          <p:grpSpPr>
            <a:xfrm>
              <a:off x="5773669" y="3595327"/>
              <a:ext cx="3686277" cy="2238650"/>
              <a:chOff x="5773669" y="3595327"/>
              <a:chExt cx="3686277" cy="2238650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3DFF75C-6594-ED5E-1F82-E7BA5AFEBD5F}"/>
                  </a:ext>
                </a:extLst>
              </p:cNvPr>
              <p:cNvSpPr/>
              <p:nvPr/>
            </p:nvSpPr>
            <p:spPr>
              <a:xfrm rot="2700000">
                <a:off x="5895725" y="3595327"/>
                <a:ext cx="2160000" cy="2160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3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3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189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898892C-00DC-69D7-D723-2576DA69715E}"/>
                  </a:ext>
                </a:extLst>
              </p:cNvPr>
              <p:cNvSpPr/>
              <p:nvPr/>
            </p:nvSpPr>
            <p:spPr>
              <a:xfrm rot="2700000">
                <a:off x="8181946" y="4555977"/>
                <a:ext cx="1224000" cy="1332000"/>
              </a:xfrm>
              <a:custGeom>
                <a:avLst/>
                <a:gdLst>
                  <a:gd name="connsiteX0" fmla="*/ 180353 w 1230469"/>
                  <a:gd name="connsiteY0" fmla="*/ 626048 h 1356287"/>
                  <a:gd name="connsiteX1" fmla="*/ 458539 w 1230469"/>
                  <a:gd name="connsiteY1" fmla="*/ 551508 h 1356287"/>
                  <a:gd name="connsiteX2" fmla="*/ 334675 w 1230469"/>
                  <a:gd name="connsiteY2" fmla="*/ 853462 h 1356287"/>
                  <a:gd name="connsiteX3" fmla="*/ 870203 w 1230469"/>
                  <a:gd name="connsiteY3" fmla="*/ 853462 h 1356287"/>
                  <a:gd name="connsiteX4" fmla="*/ 1011208 w 1230469"/>
                  <a:gd name="connsiteY4" fmla="*/ 712456 h 1356287"/>
                  <a:gd name="connsiteX5" fmla="*/ 1011208 w 1230469"/>
                  <a:gd name="connsiteY5" fmla="*/ 0 h 1356287"/>
                  <a:gd name="connsiteX6" fmla="*/ 1230469 w 1230469"/>
                  <a:gd name="connsiteY6" fmla="*/ 0 h 1356287"/>
                  <a:gd name="connsiteX7" fmla="*/ 1230469 w 1230469"/>
                  <a:gd name="connsiteY7" fmla="*/ 753356 h 1356287"/>
                  <a:gd name="connsiteX8" fmla="*/ 870462 w 1230469"/>
                  <a:gd name="connsiteY8" fmla="*/ 1113363 h 1356287"/>
                  <a:gd name="connsiteX9" fmla="*/ 436311 w 1230469"/>
                  <a:gd name="connsiteY9" fmla="*/ 1113363 h 1356287"/>
                  <a:gd name="connsiteX10" fmla="*/ 654206 w 1230469"/>
                  <a:gd name="connsiteY10" fmla="*/ 1281748 h 1356287"/>
                  <a:gd name="connsiteX11" fmla="*/ 376020 w 1230469"/>
                  <a:gd name="connsiteY11" fmla="*/ 1356287 h 1356287"/>
                  <a:gd name="connsiteX12" fmla="*/ 0 w 1230469"/>
                  <a:gd name="connsiteY12" fmla="*/ 1065708 h 1356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30469" h="1356287">
                    <a:moveTo>
                      <a:pt x="180353" y="626048"/>
                    </a:moveTo>
                    <a:lnTo>
                      <a:pt x="458539" y="551508"/>
                    </a:lnTo>
                    <a:lnTo>
                      <a:pt x="334675" y="853462"/>
                    </a:lnTo>
                    <a:lnTo>
                      <a:pt x="870203" y="853462"/>
                    </a:lnTo>
                    <a:cubicBezTo>
                      <a:pt x="948078" y="853462"/>
                      <a:pt x="1011208" y="790332"/>
                      <a:pt x="1011208" y="712456"/>
                    </a:cubicBezTo>
                    <a:lnTo>
                      <a:pt x="1011208" y="0"/>
                    </a:lnTo>
                    <a:lnTo>
                      <a:pt x="1230469" y="0"/>
                    </a:lnTo>
                    <a:lnTo>
                      <a:pt x="1230469" y="753356"/>
                    </a:lnTo>
                    <a:cubicBezTo>
                      <a:pt x="1230469" y="952182"/>
                      <a:pt x="1069288" y="1113363"/>
                      <a:pt x="870462" y="1113363"/>
                    </a:cubicBezTo>
                    <a:lnTo>
                      <a:pt x="436311" y="1113363"/>
                    </a:lnTo>
                    <a:lnTo>
                      <a:pt x="654206" y="1281748"/>
                    </a:lnTo>
                    <a:lnTo>
                      <a:pt x="376020" y="1356287"/>
                    </a:lnTo>
                    <a:lnTo>
                      <a:pt x="0" y="1065708"/>
                    </a:lnTo>
                    <a:close/>
                  </a:path>
                </a:pathLst>
              </a:custGeom>
              <a:solidFill>
                <a:srgbClr val="6F3413"/>
              </a:solidFill>
              <a:ln>
                <a:solidFill>
                  <a:srgbClr val="3D6D0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A41753BF-CB87-9C59-837E-5B1FE65B6666}"/>
                  </a:ext>
                </a:extLst>
              </p:cNvPr>
              <p:cNvSpPr txBox="1"/>
              <p:nvPr/>
            </p:nvSpPr>
            <p:spPr>
              <a:xfrm>
                <a:off x="6345617" y="4058832"/>
                <a:ext cx="18073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    </a:t>
                </a:r>
                <a:r>
                  <a:rPr lang="en-US" dirty="0">
                    <a:latin typeface="Eras Bold ITC" panose="020B0907030504020204" pitchFamily="34" charset="0"/>
                  </a:rPr>
                  <a:t>UPI</a:t>
                </a:r>
                <a:endParaRPr lang="en-IN" dirty="0">
                  <a:latin typeface="Eras Bold ITC" panose="020B0907030504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9A7872-64AE-E4D8-85B1-C69FD291E9A1}"/>
                  </a:ext>
                </a:extLst>
              </p:cNvPr>
              <p:cNvSpPr txBox="1"/>
              <p:nvPr/>
            </p:nvSpPr>
            <p:spPr>
              <a:xfrm>
                <a:off x="5773669" y="4671478"/>
                <a:ext cx="278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egoe UI Variable Small Semibol" pitchFamily="2" charset="0"/>
                  </a:rPr>
                  <a:t>PAYMENT GATEWAY</a:t>
                </a:r>
                <a:endParaRPr lang="en-IN" dirty="0">
                  <a:latin typeface="Segoe UI Variable Small Semibol" pitchFamily="2" charset="0"/>
                </a:endParaRPr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DE8FDD8-B502-BC72-9E10-9D3CA2163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21582" y="3658719"/>
              <a:ext cx="908286" cy="288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-8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578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9705" y="33497"/>
            <a:ext cx="1302382" cy="807334"/>
          </a:xfrm>
          <a:prstGeom prst="ellipse">
            <a:avLst/>
          </a:prstGeom>
          <a:ln>
            <a:solidFill>
              <a:srgbClr val="4F6228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Bytes Brigade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290F3-CBDA-169D-EAE2-92937CD8248A}"/>
              </a:ext>
            </a:extLst>
          </p:cNvPr>
          <p:cNvCxnSpPr/>
          <p:nvPr/>
        </p:nvCxnSpPr>
        <p:spPr>
          <a:xfrm>
            <a:off x="2843514" y="540166"/>
            <a:ext cx="65049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813EA9A-3B23-8E26-F567-5D68558EEE43}"/>
              </a:ext>
            </a:extLst>
          </p:cNvPr>
          <p:cNvSpPr/>
          <p:nvPr/>
        </p:nvSpPr>
        <p:spPr>
          <a:xfrm>
            <a:off x="9428886" y="504166"/>
            <a:ext cx="72000" cy="72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34CC70A-366C-C426-EA35-D53617F1861E}"/>
              </a:ext>
            </a:extLst>
          </p:cNvPr>
          <p:cNvSpPr/>
          <p:nvPr/>
        </p:nvSpPr>
        <p:spPr>
          <a:xfrm>
            <a:off x="9546529" y="531899"/>
            <a:ext cx="36000" cy="36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ED7E50-ABAF-022C-08EC-58C602F2D5EB}"/>
              </a:ext>
            </a:extLst>
          </p:cNvPr>
          <p:cNvSpPr txBox="1"/>
          <p:nvPr/>
        </p:nvSpPr>
        <p:spPr>
          <a:xfrm>
            <a:off x="5560179" y="531899"/>
            <a:ext cx="1656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ptos" panose="020B0004020202020204" pitchFamily="34" charset="0"/>
              </a:rPr>
              <a:t>User interface </a:t>
            </a:r>
            <a:endParaRPr lang="en-IN" sz="1300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Plus ">
            <a:extLst>
              <a:ext uri="{FF2B5EF4-FFF2-40B4-BE49-F238E27FC236}">
                <a16:creationId xmlns:a16="http://schemas.microsoft.com/office/drawing/2014/main" id="{4B9E00E2-5873-664A-8593-E84E72BBF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581" y="6097854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F7298C-5BF1-33C8-6C2F-90F6A7254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87" y="900676"/>
            <a:ext cx="2509200" cy="5595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618E3F-3EC5-3EFB-70C4-FBD422E5C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866" y="903207"/>
            <a:ext cx="2508183" cy="5619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3C5AF8-A1AC-DB0B-A638-07D03B71A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9214" y="919315"/>
            <a:ext cx="2509200" cy="56324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4813E-B0F9-C782-7493-BF5F2804F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5382" y="888795"/>
            <a:ext cx="2499354" cy="56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"/>
                    </a14:imgEffect>
                  </a14:imgLayer>
                </a14:imgProps>
              </a:ext>
            </a:extLst>
          </a:blip>
          <a:srcRect/>
          <a:stretch>
            <a:fillRect t="-8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0979" y="95382"/>
            <a:ext cx="1376471" cy="807334"/>
          </a:xfrm>
          <a:prstGeom prst="ellipse">
            <a:avLst/>
          </a:prstGeom>
          <a:ln>
            <a:solidFill>
              <a:srgbClr val="759E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Bytes Brigade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0854264-D139-2257-2E72-C0762F6EF593}"/>
              </a:ext>
            </a:extLst>
          </p:cNvPr>
          <p:cNvSpPr/>
          <p:nvPr/>
        </p:nvSpPr>
        <p:spPr>
          <a:xfrm>
            <a:off x="421040" y="1558288"/>
            <a:ext cx="4278560" cy="4110603"/>
          </a:xfrm>
          <a:prstGeom prst="flowChartConnector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11CDBB3-4E2A-5512-31E0-0363B5ECC6D9}"/>
              </a:ext>
            </a:extLst>
          </p:cNvPr>
          <p:cNvSpPr/>
          <p:nvPr/>
        </p:nvSpPr>
        <p:spPr>
          <a:xfrm>
            <a:off x="944880" y="1972750"/>
            <a:ext cx="3230880" cy="3281680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FCC2EFED-6284-4542-95C8-A54C4D594D8E}"/>
              </a:ext>
            </a:extLst>
          </p:cNvPr>
          <p:cNvSpPr/>
          <p:nvPr/>
        </p:nvSpPr>
        <p:spPr>
          <a:xfrm>
            <a:off x="4831027" y="3275022"/>
            <a:ext cx="634201" cy="551389"/>
          </a:xfrm>
          <a:prstGeom prst="flowChartConnector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6F71F41B-A162-2A63-394B-D1F0DDE98FE0}"/>
              </a:ext>
            </a:extLst>
          </p:cNvPr>
          <p:cNvSpPr/>
          <p:nvPr/>
        </p:nvSpPr>
        <p:spPr>
          <a:xfrm>
            <a:off x="4993161" y="3390268"/>
            <a:ext cx="350147" cy="304063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8F82F3C-115F-0798-721C-A2AEA80ED40B}"/>
              </a:ext>
            </a:extLst>
          </p:cNvPr>
          <p:cNvSpPr/>
          <p:nvPr/>
        </p:nvSpPr>
        <p:spPr>
          <a:xfrm>
            <a:off x="4537466" y="4507189"/>
            <a:ext cx="634201" cy="551389"/>
          </a:xfrm>
          <a:prstGeom prst="flowChartConnector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1B4A274-99B1-CEEF-510F-851EAAF46E2B}"/>
              </a:ext>
            </a:extLst>
          </p:cNvPr>
          <p:cNvSpPr/>
          <p:nvPr/>
        </p:nvSpPr>
        <p:spPr>
          <a:xfrm>
            <a:off x="4699600" y="4622435"/>
            <a:ext cx="350147" cy="304063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CD49AAC9-8723-F8DE-037C-F61C7501A315}"/>
              </a:ext>
            </a:extLst>
          </p:cNvPr>
          <p:cNvSpPr/>
          <p:nvPr/>
        </p:nvSpPr>
        <p:spPr>
          <a:xfrm>
            <a:off x="3573178" y="5408809"/>
            <a:ext cx="634201" cy="551389"/>
          </a:xfrm>
          <a:prstGeom prst="flowChartConnector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572AD121-DC16-59D7-33DB-04BF92BDC336}"/>
              </a:ext>
            </a:extLst>
          </p:cNvPr>
          <p:cNvSpPr/>
          <p:nvPr/>
        </p:nvSpPr>
        <p:spPr>
          <a:xfrm>
            <a:off x="3735312" y="5524055"/>
            <a:ext cx="350147" cy="304063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62181D8-18EC-920D-3A03-99C86919779C}"/>
              </a:ext>
            </a:extLst>
          </p:cNvPr>
          <p:cNvSpPr/>
          <p:nvPr/>
        </p:nvSpPr>
        <p:spPr>
          <a:xfrm>
            <a:off x="4500165" y="2062363"/>
            <a:ext cx="634201" cy="551389"/>
          </a:xfrm>
          <a:prstGeom prst="flowChartConnector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3E789AD6-CD5F-FCF7-5BE8-7C28AF1194E5}"/>
              </a:ext>
            </a:extLst>
          </p:cNvPr>
          <p:cNvSpPr/>
          <p:nvPr/>
        </p:nvSpPr>
        <p:spPr>
          <a:xfrm>
            <a:off x="4662299" y="2177609"/>
            <a:ext cx="350147" cy="304063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BEB2C40-CFB6-24DF-F292-9BE6BAB5A0CE}"/>
              </a:ext>
            </a:extLst>
          </p:cNvPr>
          <p:cNvSpPr/>
          <p:nvPr/>
        </p:nvSpPr>
        <p:spPr>
          <a:xfrm>
            <a:off x="3412589" y="1184261"/>
            <a:ext cx="634201" cy="551389"/>
          </a:xfrm>
          <a:prstGeom prst="flowChartConnector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0B6E1469-D2E6-90D4-C4B3-D626FE0D6AF8}"/>
              </a:ext>
            </a:extLst>
          </p:cNvPr>
          <p:cNvSpPr/>
          <p:nvPr/>
        </p:nvSpPr>
        <p:spPr>
          <a:xfrm>
            <a:off x="3574723" y="1299507"/>
            <a:ext cx="350147" cy="304063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E47F4B-B2D9-840D-D2E4-9849B3C235B1}"/>
              </a:ext>
            </a:extLst>
          </p:cNvPr>
          <p:cNvSpPr/>
          <p:nvPr/>
        </p:nvSpPr>
        <p:spPr>
          <a:xfrm>
            <a:off x="2958880" y="1215560"/>
            <a:ext cx="2264560" cy="4740908"/>
          </a:xfrm>
          <a:custGeom>
            <a:avLst/>
            <a:gdLst>
              <a:gd name="connsiteX0" fmla="*/ 0 w 2264560"/>
              <a:gd name="connsiteY0" fmla="*/ 0 h 4740908"/>
              <a:gd name="connsiteX1" fmla="*/ 122084 w 2264560"/>
              <a:gd name="connsiteY1" fmla="*/ 6139 h 4740908"/>
              <a:gd name="connsiteX2" fmla="*/ 2264560 w 2264560"/>
              <a:gd name="connsiteY2" fmla="*/ 2370454 h 4740908"/>
              <a:gd name="connsiteX3" fmla="*/ 122084 w 2264560"/>
              <a:gd name="connsiteY3" fmla="*/ 4734769 h 4740908"/>
              <a:gd name="connsiteX4" fmla="*/ 0 w 2264560"/>
              <a:gd name="connsiteY4" fmla="*/ 4740908 h 4740908"/>
              <a:gd name="connsiteX5" fmla="*/ 0 w 2264560"/>
              <a:gd name="connsiteY5" fmla="*/ 4657538 h 4740908"/>
              <a:gd name="connsiteX6" fmla="*/ 113560 w 2264560"/>
              <a:gd name="connsiteY6" fmla="*/ 4651829 h 4740908"/>
              <a:gd name="connsiteX7" fmla="*/ 2181189 w 2264560"/>
              <a:gd name="connsiteY7" fmla="*/ 2370454 h 4740908"/>
              <a:gd name="connsiteX8" fmla="*/ 113560 w 2264560"/>
              <a:gd name="connsiteY8" fmla="*/ 89080 h 4740908"/>
              <a:gd name="connsiteX9" fmla="*/ 0 w 2264560"/>
              <a:gd name="connsiteY9" fmla="*/ 83370 h 474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64560" h="4740908">
                <a:moveTo>
                  <a:pt x="0" y="0"/>
                </a:moveTo>
                <a:lnTo>
                  <a:pt x="122084" y="6139"/>
                </a:lnTo>
                <a:cubicBezTo>
                  <a:pt x="1325481" y="127844"/>
                  <a:pt x="2264560" y="1139937"/>
                  <a:pt x="2264560" y="2370454"/>
                </a:cubicBezTo>
                <a:cubicBezTo>
                  <a:pt x="2264560" y="3600972"/>
                  <a:pt x="1325481" y="4613064"/>
                  <a:pt x="122084" y="4734769"/>
                </a:cubicBezTo>
                <a:lnTo>
                  <a:pt x="0" y="4740908"/>
                </a:lnTo>
                <a:lnTo>
                  <a:pt x="0" y="4657538"/>
                </a:lnTo>
                <a:lnTo>
                  <a:pt x="113560" y="4651829"/>
                </a:lnTo>
                <a:cubicBezTo>
                  <a:pt x="1274916" y="4534393"/>
                  <a:pt x="2181189" y="3557805"/>
                  <a:pt x="2181189" y="2370454"/>
                </a:cubicBezTo>
                <a:cubicBezTo>
                  <a:pt x="2181189" y="1183104"/>
                  <a:pt x="1274916" y="206515"/>
                  <a:pt x="113560" y="89080"/>
                </a:cubicBezTo>
                <a:lnTo>
                  <a:pt x="0" y="83370"/>
                </a:lnTo>
                <a:close/>
              </a:path>
            </a:pathLst>
          </a:custGeom>
          <a:gradFill>
            <a:gsLst>
              <a:gs pos="78303">
                <a:schemeClr val="accent3">
                  <a:lumMod val="60000"/>
                  <a:lumOff val="40000"/>
                </a:schemeClr>
              </a:gs>
              <a:gs pos="71000">
                <a:schemeClr val="accent3">
                  <a:lumMod val="60000"/>
                  <a:lumOff val="40000"/>
                </a:schemeClr>
              </a:gs>
              <a:gs pos="0">
                <a:schemeClr val="accent3">
                  <a:lumMod val="75000"/>
                </a:schemeClr>
              </a:gs>
              <a:gs pos="0">
                <a:schemeClr val="accent3">
                  <a:lumMod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BFD78B-13E1-0033-EAA8-A2DB1350E5B7}"/>
              </a:ext>
            </a:extLst>
          </p:cNvPr>
          <p:cNvSpPr txBox="1"/>
          <p:nvPr/>
        </p:nvSpPr>
        <p:spPr>
          <a:xfrm>
            <a:off x="1292722" y="3816046"/>
            <a:ext cx="2632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Aptos" panose="020B0004020202020204" pitchFamily="34" charset="0"/>
              </a:rPr>
              <a:t>An mobile app that connects farmer and consumer without intermediate. </a:t>
            </a:r>
            <a:endParaRPr lang="en-IN" sz="1500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62932E-D390-FDEB-B034-A1E0992C8CC3}"/>
              </a:ext>
            </a:extLst>
          </p:cNvPr>
          <p:cNvSpPr txBox="1"/>
          <p:nvPr/>
        </p:nvSpPr>
        <p:spPr>
          <a:xfrm>
            <a:off x="1584289" y="3439551"/>
            <a:ext cx="2188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latin typeface="Bodoni MT Black" panose="02070A03080606020203" pitchFamily="18" charset="0"/>
              </a:rPr>
              <a:t>Farm Bridge</a:t>
            </a:r>
            <a:endParaRPr lang="en-IN" sz="2000" dirty="0"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latin typeface="Bodoni MT Black" panose="02070A03080606020203" pitchFamily="18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887D43B-2AF1-9F9B-4A82-9AE1B2DEFF9D}"/>
              </a:ext>
            </a:extLst>
          </p:cNvPr>
          <p:cNvCxnSpPr>
            <a:cxnSpLocks/>
          </p:cNvCxnSpPr>
          <p:nvPr/>
        </p:nvCxnSpPr>
        <p:spPr>
          <a:xfrm flipV="1">
            <a:off x="1557450" y="3839661"/>
            <a:ext cx="2015728" cy="1665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8" name="Graphic 37" descr="Open hand with plant with solid fill">
            <a:extLst>
              <a:ext uri="{FF2B5EF4-FFF2-40B4-BE49-F238E27FC236}">
                <a16:creationId xmlns:a16="http://schemas.microsoft.com/office/drawing/2014/main" id="{3122A2B7-2B32-A58A-1417-7D3CB702D2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7797" y="2263467"/>
            <a:ext cx="1044000" cy="1044000"/>
          </a:xfrm>
          <a:prstGeom prst="rect">
            <a:avLst/>
          </a:prstGeom>
        </p:spPr>
      </p:pic>
      <p:grpSp>
        <p:nvGrpSpPr>
          <p:cNvPr id="17412" name="Group 17411">
            <a:extLst>
              <a:ext uri="{FF2B5EF4-FFF2-40B4-BE49-F238E27FC236}">
                <a16:creationId xmlns:a16="http://schemas.microsoft.com/office/drawing/2014/main" id="{BA816BC6-5CD5-E080-73FB-17D12B6391D7}"/>
              </a:ext>
            </a:extLst>
          </p:cNvPr>
          <p:cNvGrpSpPr/>
          <p:nvPr/>
        </p:nvGrpSpPr>
        <p:grpSpPr>
          <a:xfrm>
            <a:off x="4537466" y="718050"/>
            <a:ext cx="5785370" cy="1024881"/>
            <a:chOff x="4537466" y="718050"/>
            <a:chExt cx="5785370" cy="1024881"/>
          </a:xfrm>
        </p:grpSpPr>
        <p:grpSp>
          <p:nvGrpSpPr>
            <p:cNvPr id="17411" name="Group 17410">
              <a:extLst>
                <a:ext uri="{FF2B5EF4-FFF2-40B4-BE49-F238E27FC236}">
                  <a16:creationId xmlns:a16="http://schemas.microsoft.com/office/drawing/2014/main" id="{893B9A46-08E6-85A6-DF0F-03E974D9F043}"/>
                </a:ext>
              </a:extLst>
            </p:cNvPr>
            <p:cNvGrpSpPr/>
            <p:nvPr/>
          </p:nvGrpSpPr>
          <p:grpSpPr>
            <a:xfrm>
              <a:off x="4537466" y="754152"/>
              <a:ext cx="5785370" cy="926251"/>
              <a:chOff x="4537466" y="754152"/>
              <a:chExt cx="5785370" cy="926251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06B8F55A-CB4F-AB1C-7A72-3900CDE3F2EC}"/>
                  </a:ext>
                </a:extLst>
              </p:cNvPr>
              <p:cNvSpPr/>
              <p:nvPr/>
            </p:nvSpPr>
            <p:spPr>
              <a:xfrm>
                <a:off x="4537466" y="754152"/>
                <a:ext cx="5785370" cy="926251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" name="Flowchart: Connector 2">
                <a:extLst>
                  <a:ext uri="{FF2B5EF4-FFF2-40B4-BE49-F238E27FC236}">
                    <a16:creationId xmlns:a16="http://schemas.microsoft.com/office/drawing/2014/main" id="{C759E7F9-4187-7EE8-6A62-4BEE86390818}"/>
                  </a:ext>
                </a:extLst>
              </p:cNvPr>
              <p:cNvSpPr/>
              <p:nvPr/>
            </p:nvSpPr>
            <p:spPr>
              <a:xfrm>
                <a:off x="4658183" y="803093"/>
                <a:ext cx="820010" cy="808676"/>
              </a:xfrm>
              <a:prstGeom prst="flowChartConnector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2" name="Graphic 61" descr="Shopping cart with solid fill">
                <a:extLst>
                  <a:ext uri="{FF2B5EF4-FFF2-40B4-BE49-F238E27FC236}">
                    <a16:creationId xmlns:a16="http://schemas.microsoft.com/office/drawing/2014/main" id="{F7EC9475-D93B-1124-5608-CEDD3A499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02428" y="965974"/>
                <a:ext cx="540000" cy="540000"/>
              </a:xfrm>
              <a:prstGeom prst="rect">
                <a:avLst/>
              </a:prstGeom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F760AB2-5DCB-A37A-03E1-F8D68473713B}"/>
                </a:ext>
              </a:extLst>
            </p:cNvPr>
            <p:cNvGrpSpPr/>
            <p:nvPr/>
          </p:nvGrpSpPr>
          <p:grpSpPr>
            <a:xfrm>
              <a:off x="5372810" y="718050"/>
              <a:ext cx="4862673" cy="1024881"/>
              <a:chOff x="5372810" y="718050"/>
              <a:chExt cx="4862673" cy="1024881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A79276-D861-A658-8849-42F0285569B6}"/>
                  </a:ext>
                </a:extLst>
              </p:cNvPr>
              <p:cNvSpPr txBox="1"/>
              <p:nvPr/>
            </p:nvSpPr>
            <p:spPr>
              <a:xfrm>
                <a:off x="5372810" y="718050"/>
                <a:ext cx="33647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Berlin Sans FB" panose="020E0602020502020306" pitchFamily="34" charset="0"/>
                  </a:rPr>
                  <a:t>Enhanced Consumer Experience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F729789-22B2-7944-380F-D9D2B8554510}"/>
                  </a:ext>
                </a:extLst>
              </p:cNvPr>
              <p:cNvSpPr txBox="1"/>
              <p:nvPr/>
            </p:nvSpPr>
            <p:spPr>
              <a:xfrm>
                <a:off x="5538764" y="973490"/>
                <a:ext cx="469671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Consumers have the option to visit farms and purchase products directly, fostering a better understanding of where their food comes from and ensuring fresher produce</a:t>
                </a:r>
                <a:r>
                  <a:rPr lang="en-US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.</a:t>
                </a:r>
                <a:endParaRPr lang="en-IN" dirty="0">
                  <a:solidFill>
                    <a:schemeClr val="bg1"/>
                  </a:solidFill>
                  <a:latin typeface="Aptos Narrow" panose="020B0004020202020204" pitchFamily="34" charset="0"/>
                </a:endParaRPr>
              </a:p>
            </p:txBody>
          </p:sp>
        </p:grpSp>
      </p:grpSp>
      <p:grpSp>
        <p:nvGrpSpPr>
          <p:cNvPr id="17414" name="Group 17413">
            <a:extLst>
              <a:ext uri="{FF2B5EF4-FFF2-40B4-BE49-F238E27FC236}">
                <a16:creationId xmlns:a16="http://schemas.microsoft.com/office/drawing/2014/main" id="{BD14342C-DDCE-331F-BAA5-E0309B5E596D}"/>
              </a:ext>
            </a:extLst>
          </p:cNvPr>
          <p:cNvGrpSpPr/>
          <p:nvPr/>
        </p:nvGrpSpPr>
        <p:grpSpPr>
          <a:xfrm>
            <a:off x="6538742" y="1860453"/>
            <a:ext cx="5242338" cy="945520"/>
            <a:chOff x="6538742" y="1860453"/>
            <a:chExt cx="5242338" cy="945520"/>
          </a:xfrm>
        </p:grpSpPr>
        <p:grpSp>
          <p:nvGrpSpPr>
            <p:cNvPr id="17413" name="Group 17412">
              <a:extLst>
                <a:ext uri="{FF2B5EF4-FFF2-40B4-BE49-F238E27FC236}">
                  <a16:creationId xmlns:a16="http://schemas.microsoft.com/office/drawing/2014/main" id="{3BD2C962-38BC-5B9F-1B88-945B25502877}"/>
                </a:ext>
              </a:extLst>
            </p:cNvPr>
            <p:cNvGrpSpPr/>
            <p:nvPr/>
          </p:nvGrpSpPr>
          <p:grpSpPr>
            <a:xfrm>
              <a:off x="6538742" y="1866745"/>
              <a:ext cx="5242338" cy="926251"/>
              <a:chOff x="6538742" y="1866745"/>
              <a:chExt cx="5242338" cy="926251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E7CB24C-1C23-2CDF-D8AE-3A4A0FC63C5D}"/>
                  </a:ext>
                </a:extLst>
              </p:cNvPr>
              <p:cNvSpPr/>
              <p:nvPr/>
            </p:nvSpPr>
            <p:spPr>
              <a:xfrm>
                <a:off x="6538742" y="1866745"/>
                <a:ext cx="5242338" cy="926251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Flowchart: Connector 6">
                <a:extLst>
                  <a:ext uri="{FF2B5EF4-FFF2-40B4-BE49-F238E27FC236}">
                    <a16:creationId xmlns:a16="http://schemas.microsoft.com/office/drawing/2014/main" id="{E89DC0A7-6C74-B152-15A1-B7CF06878A27}"/>
                  </a:ext>
                </a:extLst>
              </p:cNvPr>
              <p:cNvSpPr/>
              <p:nvPr/>
            </p:nvSpPr>
            <p:spPr>
              <a:xfrm>
                <a:off x="6697918" y="1925533"/>
                <a:ext cx="820010" cy="808676"/>
              </a:xfrm>
              <a:prstGeom prst="flowChartConnector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7408" name="Graphic 17407" descr="Users with solid fill">
                <a:extLst>
                  <a:ext uri="{FF2B5EF4-FFF2-40B4-BE49-F238E27FC236}">
                    <a16:creationId xmlns:a16="http://schemas.microsoft.com/office/drawing/2014/main" id="{69556276-EFE6-6436-28F4-E4ED183B96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713600" y="1951515"/>
                <a:ext cx="765907" cy="765907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931A40D-5FA0-D7F0-E7D1-57E6E76FF360}"/>
                </a:ext>
              </a:extLst>
            </p:cNvPr>
            <p:cNvGrpSpPr/>
            <p:nvPr/>
          </p:nvGrpSpPr>
          <p:grpSpPr>
            <a:xfrm>
              <a:off x="7436858" y="1860453"/>
              <a:ext cx="4344222" cy="945520"/>
              <a:chOff x="7436858" y="1860453"/>
              <a:chExt cx="4344222" cy="945520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56D2B9-6089-5C64-A29A-38CFFB6D8DDD}"/>
                  </a:ext>
                </a:extLst>
              </p:cNvPr>
              <p:cNvSpPr txBox="1"/>
              <p:nvPr/>
            </p:nvSpPr>
            <p:spPr>
              <a:xfrm>
                <a:off x="7436858" y="1860453"/>
                <a:ext cx="359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Berlin Sans FB" panose="020E0602020502020306" pitchFamily="34" charset="0"/>
                  </a:rPr>
                  <a:t>Increased Trust and Transparency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6E2EC5-479E-517A-2900-89B89F568DE5}"/>
                  </a:ext>
                </a:extLst>
              </p:cNvPr>
              <p:cNvSpPr txBox="1"/>
              <p:nvPr/>
            </p:nvSpPr>
            <p:spPr>
              <a:xfrm>
                <a:off x="7550399" y="2113476"/>
                <a:ext cx="4230681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The app facilitates transparent interactions between farmers and consumers, building trust and confidence in the quality and authenticity of the products.</a:t>
                </a:r>
                <a:endParaRPr lang="en-IN" sz="1300" dirty="0">
                  <a:solidFill>
                    <a:schemeClr val="bg1"/>
                  </a:solidFill>
                  <a:latin typeface="Aptos Narrow" panose="020B0004020202020204" pitchFamily="34" charset="0"/>
                </a:endParaRPr>
              </a:p>
            </p:txBody>
          </p:sp>
        </p:grpSp>
      </p:grpSp>
      <p:grpSp>
        <p:nvGrpSpPr>
          <p:cNvPr id="17418" name="Group 17417">
            <a:extLst>
              <a:ext uri="{FF2B5EF4-FFF2-40B4-BE49-F238E27FC236}">
                <a16:creationId xmlns:a16="http://schemas.microsoft.com/office/drawing/2014/main" id="{5B9A11CE-3D2F-FCAD-00AC-0BCBAE7C8F33}"/>
              </a:ext>
            </a:extLst>
          </p:cNvPr>
          <p:cNvGrpSpPr/>
          <p:nvPr/>
        </p:nvGrpSpPr>
        <p:grpSpPr>
          <a:xfrm>
            <a:off x="5592086" y="3016466"/>
            <a:ext cx="5366025" cy="983681"/>
            <a:chOff x="6419194" y="4304115"/>
            <a:chExt cx="5366025" cy="983681"/>
          </a:xfrm>
        </p:grpSpPr>
        <p:grpSp>
          <p:nvGrpSpPr>
            <p:cNvPr id="17417" name="Group 17416">
              <a:extLst>
                <a:ext uri="{FF2B5EF4-FFF2-40B4-BE49-F238E27FC236}">
                  <a16:creationId xmlns:a16="http://schemas.microsoft.com/office/drawing/2014/main" id="{91E169EC-05DA-C607-98E9-1DF222EFAE18}"/>
                </a:ext>
              </a:extLst>
            </p:cNvPr>
            <p:cNvGrpSpPr/>
            <p:nvPr/>
          </p:nvGrpSpPr>
          <p:grpSpPr>
            <a:xfrm>
              <a:off x="6419194" y="4345531"/>
              <a:ext cx="5351766" cy="926251"/>
              <a:chOff x="6419194" y="4345531"/>
              <a:chExt cx="5351766" cy="926251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B175B491-7D20-C86D-DF1F-D656B1C041EE}"/>
                  </a:ext>
                </a:extLst>
              </p:cNvPr>
              <p:cNvSpPr/>
              <p:nvPr/>
            </p:nvSpPr>
            <p:spPr>
              <a:xfrm>
                <a:off x="6419194" y="4345531"/>
                <a:ext cx="5351766" cy="926251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891A65F1-7411-65AA-378F-F4CE169F875C}"/>
                  </a:ext>
                </a:extLst>
              </p:cNvPr>
              <p:cNvSpPr/>
              <p:nvPr/>
            </p:nvSpPr>
            <p:spPr>
              <a:xfrm>
                <a:off x="6551736" y="4415022"/>
                <a:ext cx="820010" cy="808676"/>
              </a:xfrm>
              <a:prstGeom prst="flowChartConnector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58" name="Graphic 57" descr="Bar graph with upward trend with solid fill">
                <a:extLst>
                  <a:ext uri="{FF2B5EF4-FFF2-40B4-BE49-F238E27FC236}">
                    <a16:creationId xmlns:a16="http://schemas.microsoft.com/office/drawing/2014/main" id="{FF3BA69B-03B6-7EE2-DA98-30B950827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690668" y="4556233"/>
                <a:ext cx="540000" cy="540000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05E9804-335B-B95F-A427-E8BE7BBA72FC}"/>
                </a:ext>
              </a:extLst>
            </p:cNvPr>
            <p:cNvGrpSpPr/>
            <p:nvPr/>
          </p:nvGrpSpPr>
          <p:grpSpPr>
            <a:xfrm>
              <a:off x="7319584" y="4304115"/>
              <a:ext cx="4465635" cy="983681"/>
              <a:chOff x="7264274" y="4284601"/>
              <a:chExt cx="4465635" cy="983681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C2AAE1C-0A20-DC70-8A05-BF52D6E41C74}"/>
                  </a:ext>
                </a:extLst>
              </p:cNvPr>
              <p:cNvSpPr txBox="1"/>
              <p:nvPr/>
            </p:nvSpPr>
            <p:spPr>
              <a:xfrm>
                <a:off x="7264274" y="4284601"/>
                <a:ext cx="27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Berlin Sans FB" panose="020E0602020502020306" pitchFamily="34" charset="0"/>
                  </a:rPr>
                  <a:t>Economic Growth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C03C1E6-4C9C-594B-F2A3-407AEE2BEB3E}"/>
                  </a:ext>
                </a:extLst>
              </p:cNvPr>
              <p:cNvSpPr txBox="1"/>
              <p:nvPr/>
            </p:nvSpPr>
            <p:spPr>
              <a:xfrm>
                <a:off x="7405352" y="4575785"/>
                <a:ext cx="4324557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This app stimulates local economies by supporting small-scale farmers, enhancing rural livelihoods, and contributing to the nation’s economic growth.</a:t>
                </a:r>
                <a:endParaRPr lang="en-IN" sz="1300" dirty="0">
                  <a:solidFill>
                    <a:schemeClr val="bg1"/>
                  </a:solidFill>
                  <a:latin typeface="Aptos Narrow" panose="020B0004020202020204" pitchFamily="34" charset="0"/>
                </a:endParaRPr>
              </a:p>
            </p:txBody>
          </p:sp>
        </p:grpSp>
      </p:grpSp>
      <p:grpSp>
        <p:nvGrpSpPr>
          <p:cNvPr id="17420" name="Group 17419">
            <a:extLst>
              <a:ext uri="{FF2B5EF4-FFF2-40B4-BE49-F238E27FC236}">
                <a16:creationId xmlns:a16="http://schemas.microsoft.com/office/drawing/2014/main" id="{7F7F8BC3-CD40-14E4-7B01-E0CAF16FE6F6}"/>
              </a:ext>
            </a:extLst>
          </p:cNvPr>
          <p:cNvGrpSpPr/>
          <p:nvPr/>
        </p:nvGrpSpPr>
        <p:grpSpPr>
          <a:xfrm>
            <a:off x="6544638" y="4237689"/>
            <a:ext cx="5582543" cy="960309"/>
            <a:chOff x="4993161" y="5497564"/>
            <a:chExt cx="5582543" cy="960309"/>
          </a:xfrm>
        </p:grpSpPr>
        <p:grpSp>
          <p:nvGrpSpPr>
            <p:cNvPr id="17419" name="Group 17418">
              <a:extLst>
                <a:ext uri="{FF2B5EF4-FFF2-40B4-BE49-F238E27FC236}">
                  <a16:creationId xmlns:a16="http://schemas.microsoft.com/office/drawing/2014/main" id="{DCF12E30-6848-BA2F-A11C-27D669A5A709}"/>
                </a:ext>
              </a:extLst>
            </p:cNvPr>
            <p:cNvGrpSpPr/>
            <p:nvPr/>
          </p:nvGrpSpPr>
          <p:grpSpPr>
            <a:xfrm>
              <a:off x="4993161" y="5502713"/>
              <a:ext cx="5547020" cy="926251"/>
              <a:chOff x="4993161" y="5502713"/>
              <a:chExt cx="5547020" cy="926251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0B6DA66-62DF-7B5E-7406-6FE7874411E8}"/>
                  </a:ext>
                </a:extLst>
              </p:cNvPr>
              <p:cNvSpPr/>
              <p:nvPr/>
            </p:nvSpPr>
            <p:spPr>
              <a:xfrm>
                <a:off x="4993161" y="5502713"/>
                <a:ext cx="5547020" cy="926251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Flowchart: Connector 18">
                <a:extLst>
                  <a:ext uri="{FF2B5EF4-FFF2-40B4-BE49-F238E27FC236}">
                    <a16:creationId xmlns:a16="http://schemas.microsoft.com/office/drawing/2014/main" id="{4D9B8272-94EC-0405-3623-91DCC9100C85}"/>
                  </a:ext>
                </a:extLst>
              </p:cNvPr>
              <p:cNvSpPr/>
              <p:nvPr/>
            </p:nvSpPr>
            <p:spPr>
              <a:xfrm>
                <a:off x="5152337" y="5561501"/>
                <a:ext cx="820010" cy="808676"/>
              </a:xfrm>
              <a:prstGeom prst="flowChartConnector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56" name="Graphic 55" descr="Globe with solid fill">
                <a:extLst>
                  <a:ext uri="{FF2B5EF4-FFF2-40B4-BE49-F238E27FC236}">
                    <a16:creationId xmlns:a16="http://schemas.microsoft.com/office/drawing/2014/main" id="{C53C2A31-FB4C-D09F-E4F6-0DAA4AAB4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301599" y="5676086"/>
                <a:ext cx="540000" cy="5400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9B7369A-BD1C-C47D-3116-037935CBD59B}"/>
                </a:ext>
              </a:extLst>
            </p:cNvPr>
            <p:cNvGrpSpPr/>
            <p:nvPr/>
          </p:nvGrpSpPr>
          <p:grpSpPr>
            <a:xfrm>
              <a:off x="5897258" y="5497564"/>
              <a:ext cx="4678446" cy="960309"/>
              <a:chOff x="5897258" y="5497564"/>
              <a:chExt cx="4678446" cy="960309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5856DD-22E1-702E-245B-B5ED92BBDD0E}"/>
                  </a:ext>
                </a:extLst>
              </p:cNvPr>
              <p:cNvSpPr txBox="1"/>
              <p:nvPr/>
            </p:nvSpPr>
            <p:spPr>
              <a:xfrm>
                <a:off x="5897258" y="5497564"/>
                <a:ext cx="3411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Berlin Sans FB" panose="020E0602020502020306" pitchFamily="34" charset="0"/>
                  </a:rPr>
                  <a:t>Strengthened Agricultural Sector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0F26A49-203C-5F14-1AF6-A9E825831290}"/>
                  </a:ext>
                </a:extLst>
              </p:cNvPr>
              <p:cNvSpPr txBox="1"/>
              <p:nvPr/>
            </p:nvSpPr>
            <p:spPr>
              <a:xfrm>
                <a:off x="6131523" y="5765376"/>
                <a:ext cx="4444181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ptos Narrow" panose="020B0004020202020204" pitchFamily="34" charset="0"/>
                  </a:rPr>
                  <a:t>This app fosters innovation in the agriculture sector, integrating technology to modernize farming practices and market strategies.</a:t>
                </a:r>
                <a:endParaRPr lang="en-IN" dirty="0"/>
              </a:p>
            </p:txBody>
          </p:sp>
        </p:grpSp>
      </p:grpSp>
      <p:grpSp>
        <p:nvGrpSpPr>
          <p:cNvPr id="17421" name="Group 17420">
            <a:extLst>
              <a:ext uri="{FF2B5EF4-FFF2-40B4-BE49-F238E27FC236}">
                <a16:creationId xmlns:a16="http://schemas.microsoft.com/office/drawing/2014/main" id="{A0098A67-E20E-F0B5-1989-823B00212422}"/>
              </a:ext>
            </a:extLst>
          </p:cNvPr>
          <p:cNvGrpSpPr/>
          <p:nvPr/>
        </p:nvGrpSpPr>
        <p:grpSpPr>
          <a:xfrm>
            <a:off x="4828310" y="5335096"/>
            <a:ext cx="5133967" cy="986044"/>
            <a:chOff x="5622522" y="3096824"/>
            <a:chExt cx="5133967" cy="986044"/>
          </a:xfrm>
        </p:grpSpPr>
        <p:grpSp>
          <p:nvGrpSpPr>
            <p:cNvPr id="17416" name="Group 17415">
              <a:extLst>
                <a:ext uri="{FF2B5EF4-FFF2-40B4-BE49-F238E27FC236}">
                  <a16:creationId xmlns:a16="http://schemas.microsoft.com/office/drawing/2014/main" id="{FE1F1D23-1A7B-8D1E-AD0C-C7A8FAB47F98}"/>
                </a:ext>
              </a:extLst>
            </p:cNvPr>
            <p:cNvGrpSpPr/>
            <p:nvPr/>
          </p:nvGrpSpPr>
          <p:grpSpPr>
            <a:xfrm>
              <a:off x="5622522" y="3096824"/>
              <a:ext cx="5133967" cy="986044"/>
              <a:chOff x="5622522" y="3096824"/>
              <a:chExt cx="5133967" cy="986044"/>
            </a:xfrm>
          </p:grpSpPr>
          <p:grpSp>
            <p:nvGrpSpPr>
              <p:cNvPr id="17415" name="Group 17414">
                <a:extLst>
                  <a:ext uri="{FF2B5EF4-FFF2-40B4-BE49-F238E27FC236}">
                    <a16:creationId xmlns:a16="http://schemas.microsoft.com/office/drawing/2014/main" id="{5D31FE78-EF55-0A16-A83C-EE5BEC56FF23}"/>
                  </a:ext>
                </a:extLst>
              </p:cNvPr>
              <p:cNvGrpSpPr/>
              <p:nvPr/>
            </p:nvGrpSpPr>
            <p:grpSpPr>
              <a:xfrm>
                <a:off x="5622522" y="3135121"/>
                <a:ext cx="5133967" cy="926251"/>
                <a:chOff x="5622522" y="3135121"/>
                <a:chExt cx="5133967" cy="926251"/>
              </a:xfrm>
            </p:grpSpPr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AC429D27-9A19-1D6F-5E04-FB1D7B202470}"/>
                    </a:ext>
                  </a:extLst>
                </p:cNvPr>
                <p:cNvSpPr/>
                <p:nvPr/>
              </p:nvSpPr>
              <p:spPr>
                <a:xfrm>
                  <a:off x="5622522" y="3135121"/>
                  <a:ext cx="5133967" cy="9262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4" name="Flowchart: Connector 13">
                  <a:extLst>
                    <a:ext uri="{FF2B5EF4-FFF2-40B4-BE49-F238E27FC236}">
                      <a16:creationId xmlns:a16="http://schemas.microsoft.com/office/drawing/2014/main" id="{0851272D-4BEF-27C8-33AC-F42177C3C8AB}"/>
                    </a:ext>
                  </a:extLst>
                </p:cNvPr>
                <p:cNvSpPr/>
                <p:nvPr/>
              </p:nvSpPr>
              <p:spPr>
                <a:xfrm>
                  <a:off x="5781699" y="3193909"/>
                  <a:ext cx="820010" cy="808676"/>
                </a:xfrm>
                <a:prstGeom prst="flowChartConnector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3FA4071-2955-2B13-59BA-AFDB7F8CC1B9}"/>
                  </a:ext>
                </a:extLst>
              </p:cNvPr>
              <p:cNvGrpSpPr/>
              <p:nvPr/>
            </p:nvGrpSpPr>
            <p:grpSpPr>
              <a:xfrm>
                <a:off x="6569995" y="3096824"/>
                <a:ext cx="4186494" cy="986044"/>
                <a:chOff x="6569995" y="3096824"/>
                <a:chExt cx="4186494" cy="986044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53F6C1E-6424-AB17-D198-2347C7B6EE54}"/>
                    </a:ext>
                  </a:extLst>
                </p:cNvPr>
                <p:cNvSpPr txBox="1"/>
                <p:nvPr/>
              </p:nvSpPr>
              <p:spPr>
                <a:xfrm>
                  <a:off x="6569995" y="3096824"/>
                  <a:ext cx="25352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>
                      <a:latin typeface="Berlin Sans FB" panose="020E0602020502020306" pitchFamily="34" charset="0"/>
                    </a:rPr>
                    <a:t>Health Benefits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A8D35C0-B8C0-F57F-C535-323603C468A6}"/>
                    </a:ext>
                  </a:extLst>
                </p:cNvPr>
                <p:cNvSpPr txBox="1"/>
                <p:nvPr/>
              </p:nvSpPr>
              <p:spPr>
                <a:xfrm>
                  <a:off x="6713600" y="3390371"/>
                  <a:ext cx="4042889" cy="6924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dirty="0">
                      <a:solidFill>
                        <a:schemeClr val="bg1"/>
                      </a:solidFill>
                      <a:latin typeface="Aptos Narrow" panose="020B0004020202020204" pitchFamily="34" charset="0"/>
                    </a:rPr>
                    <a:t>Direct interactions with farmers allow consumers to make informed choices, leading to a greater emphasis on quality and safety of the produce.</a:t>
                  </a:r>
                  <a:endParaRPr lang="en-IN" sz="1300" dirty="0">
                    <a:solidFill>
                      <a:schemeClr val="bg1"/>
                    </a:solidFill>
                    <a:latin typeface="Aptos Narrow" panose="020B0004020202020204" pitchFamily="34" charset="0"/>
                  </a:endParaRPr>
                </a:p>
              </p:txBody>
            </p:sp>
          </p:grpSp>
        </p:grpSp>
        <p:pic>
          <p:nvPicPr>
            <p:cNvPr id="60" name="Graphic 59" descr="Heart with pulse with solid fill">
              <a:extLst>
                <a:ext uri="{FF2B5EF4-FFF2-40B4-BE49-F238E27FC236}">
                  <a16:creationId xmlns:a16="http://schemas.microsoft.com/office/drawing/2014/main" id="{F5BA1447-9BAF-B794-4E59-F1516A6B0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21408281">
              <a:off x="5867464" y="3283807"/>
              <a:ext cx="684000" cy="684000"/>
            </a:xfrm>
            <a:prstGeom prst="rect">
              <a:avLst/>
            </a:prstGeom>
          </p:spPr>
        </p:pic>
      </p:grp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65CEAC4C-A093-640E-7D97-3BF90B8288F4}"/>
              </a:ext>
            </a:extLst>
          </p:cNvPr>
          <p:cNvSpPr txBox="1"/>
          <p:nvPr/>
        </p:nvSpPr>
        <p:spPr>
          <a:xfrm>
            <a:off x="4046790" y="0"/>
            <a:ext cx="6250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IMPACT AND BENIFITS</a:t>
            </a:r>
            <a:endParaRPr lang="en-IN" sz="3600" b="1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7426" name="Straight Connector 17425">
            <a:extLst>
              <a:ext uri="{FF2B5EF4-FFF2-40B4-BE49-F238E27FC236}">
                <a16:creationId xmlns:a16="http://schemas.microsoft.com/office/drawing/2014/main" id="{602D4F79-EC88-146A-0E56-E4002DF7DD1C}"/>
              </a:ext>
            </a:extLst>
          </p:cNvPr>
          <p:cNvCxnSpPr>
            <a:cxnSpLocks/>
          </p:cNvCxnSpPr>
          <p:nvPr/>
        </p:nvCxnSpPr>
        <p:spPr>
          <a:xfrm flipV="1">
            <a:off x="4207379" y="551184"/>
            <a:ext cx="4060590" cy="906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Flowchart: Connector 17426">
            <a:extLst>
              <a:ext uri="{FF2B5EF4-FFF2-40B4-BE49-F238E27FC236}">
                <a16:creationId xmlns:a16="http://schemas.microsoft.com/office/drawing/2014/main" id="{10876E63-5418-634A-60B5-FE8F8B76D7C4}"/>
              </a:ext>
            </a:extLst>
          </p:cNvPr>
          <p:cNvSpPr/>
          <p:nvPr/>
        </p:nvSpPr>
        <p:spPr>
          <a:xfrm>
            <a:off x="8342743" y="522961"/>
            <a:ext cx="72000" cy="72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8" name="Flowchart: Connector 17427">
            <a:extLst>
              <a:ext uri="{FF2B5EF4-FFF2-40B4-BE49-F238E27FC236}">
                <a16:creationId xmlns:a16="http://schemas.microsoft.com/office/drawing/2014/main" id="{D898F92B-0594-128A-B0F3-4E3664C77DB4}"/>
              </a:ext>
            </a:extLst>
          </p:cNvPr>
          <p:cNvSpPr/>
          <p:nvPr/>
        </p:nvSpPr>
        <p:spPr>
          <a:xfrm>
            <a:off x="8471517" y="536381"/>
            <a:ext cx="36000" cy="36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-80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5993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8750" y="75732"/>
            <a:ext cx="1418004" cy="807334"/>
          </a:xfrm>
          <a:prstGeom prst="ellipse">
            <a:avLst/>
          </a:prstGeom>
          <a:ln>
            <a:solidFill>
              <a:srgbClr val="4F6228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Bytes Brigade</a:t>
            </a:r>
            <a:endParaRPr lang="en-I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C739A8-6856-CB50-B49E-8D702AD35431}"/>
              </a:ext>
            </a:extLst>
          </p:cNvPr>
          <p:cNvCxnSpPr/>
          <p:nvPr/>
        </p:nvCxnSpPr>
        <p:spPr>
          <a:xfrm>
            <a:off x="2604304" y="617345"/>
            <a:ext cx="6910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480E042-B3C6-B78B-B567-B65E6091C74B}"/>
              </a:ext>
            </a:extLst>
          </p:cNvPr>
          <p:cNvSpPr/>
          <p:nvPr/>
        </p:nvSpPr>
        <p:spPr>
          <a:xfrm>
            <a:off x="9572370" y="557913"/>
            <a:ext cx="72000" cy="72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7CE99FD-F106-D84D-CEED-38CBE9B386AF}"/>
              </a:ext>
            </a:extLst>
          </p:cNvPr>
          <p:cNvSpPr/>
          <p:nvPr/>
        </p:nvSpPr>
        <p:spPr>
          <a:xfrm>
            <a:off x="9712433" y="581345"/>
            <a:ext cx="36000" cy="36000"/>
          </a:xfrm>
          <a:prstGeom prst="flowChartConnector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D330B90-96BB-DEB7-C29E-C65A39AF6E72}"/>
              </a:ext>
            </a:extLst>
          </p:cNvPr>
          <p:cNvSpPr/>
          <p:nvPr/>
        </p:nvSpPr>
        <p:spPr>
          <a:xfrm>
            <a:off x="2604304" y="740466"/>
            <a:ext cx="764600" cy="632585"/>
          </a:xfrm>
          <a:prstGeom prst="rightArrow">
            <a:avLst>
              <a:gd name="adj1" fmla="val 37151"/>
              <a:gd name="adj2" fmla="val 54818"/>
            </a:avLst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31824E8-8E42-093F-1693-18A0CE7C9BAF}"/>
              </a:ext>
            </a:extLst>
          </p:cNvPr>
          <p:cNvSpPr/>
          <p:nvPr/>
        </p:nvSpPr>
        <p:spPr>
          <a:xfrm rot="10800000">
            <a:off x="8776165" y="811766"/>
            <a:ext cx="868205" cy="632585"/>
          </a:xfrm>
          <a:prstGeom prst="rightArrow">
            <a:avLst>
              <a:gd name="adj1" fmla="val 37151"/>
              <a:gd name="adj2" fmla="val 54818"/>
            </a:avLst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F7A28B3-C5A9-5FEE-F6C9-68B7D29BEB64}"/>
              </a:ext>
            </a:extLst>
          </p:cNvPr>
          <p:cNvGrpSpPr/>
          <p:nvPr/>
        </p:nvGrpSpPr>
        <p:grpSpPr>
          <a:xfrm>
            <a:off x="3661458" y="740466"/>
            <a:ext cx="5412366" cy="805305"/>
            <a:chOff x="3661458" y="740466"/>
            <a:chExt cx="5412366" cy="805305"/>
          </a:xfrm>
        </p:grpSpPr>
        <p:sp>
          <p:nvSpPr>
            <p:cNvPr id="42" name="Rectangle: Diagonal Corners Rounded 41">
              <a:extLst>
                <a:ext uri="{FF2B5EF4-FFF2-40B4-BE49-F238E27FC236}">
                  <a16:creationId xmlns:a16="http://schemas.microsoft.com/office/drawing/2014/main" id="{36E9728A-6AEB-1D08-42B3-AC37CA68E99D}"/>
                </a:ext>
              </a:extLst>
            </p:cNvPr>
            <p:cNvSpPr/>
            <p:nvPr/>
          </p:nvSpPr>
          <p:spPr>
            <a:xfrm>
              <a:off x="3661458" y="740466"/>
              <a:ext cx="4862782" cy="805305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F319F7F-2BA1-05A8-9784-FAD78C9364D1}"/>
                </a:ext>
              </a:extLst>
            </p:cNvPr>
            <p:cNvSpPr txBox="1"/>
            <p:nvPr/>
          </p:nvSpPr>
          <p:spPr>
            <a:xfrm>
              <a:off x="4470400" y="753163"/>
              <a:ext cx="4603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erlin Sans FB Demi" panose="020E0802020502020306" pitchFamily="34" charset="0"/>
                </a:rPr>
                <a:t>Research on existing app(50+)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29EC4C-39F3-1EAE-F439-DDB01E79274B}"/>
                </a:ext>
              </a:extLst>
            </p:cNvPr>
            <p:cNvSpPr txBox="1"/>
            <p:nvPr/>
          </p:nvSpPr>
          <p:spPr>
            <a:xfrm>
              <a:off x="3783611" y="1049658"/>
              <a:ext cx="4819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Aptos Display" panose="020B0004020202020204" pitchFamily="34" charset="0"/>
                </a:rPr>
                <a:t>Eg</a:t>
              </a:r>
              <a:r>
                <a:rPr lang="en-US" dirty="0">
                  <a:latin typeface="Aptos Display" panose="020B0004020202020204" pitchFamily="34" charset="0"/>
                </a:rPr>
                <a:t> :Big </a:t>
              </a:r>
              <a:r>
                <a:rPr lang="en-US" dirty="0" err="1">
                  <a:latin typeface="Aptos Display" panose="020B0004020202020204" pitchFamily="34" charset="0"/>
                </a:rPr>
                <a:t>Hatt</a:t>
              </a:r>
              <a:r>
                <a:rPr lang="en-US" dirty="0">
                  <a:latin typeface="Aptos Display" panose="020B0004020202020204" pitchFamily="34" charset="0"/>
                </a:rPr>
                <a:t> ,Farmers fresh zone ,</a:t>
              </a:r>
              <a:r>
                <a:rPr lang="en-US" dirty="0" err="1">
                  <a:latin typeface="Aptos Display" panose="020B0004020202020204" pitchFamily="34" charset="0"/>
                </a:rPr>
                <a:t>Farmigo</a:t>
              </a:r>
              <a:r>
                <a:rPr lang="en-US" dirty="0">
                  <a:latin typeface="Aptos Display" panose="020B0004020202020204" pitchFamily="34" charset="0"/>
                </a:rPr>
                <a:t> </a:t>
              </a:r>
              <a:r>
                <a:rPr lang="en-US" dirty="0" err="1">
                  <a:latin typeface="Aptos Display" panose="020B0004020202020204" pitchFamily="34" charset="0"/>
                </a:rPr>
                <a:t>etc</a:t>
              </a:r>
              <a:r>
                <a:rPr lang="en-US" dirty="0">
                  <a:latin typeface="Aptos Display" panose="020B0004020202020204" pitchFamily="34" charset="0"/>
                </a:rPr>
                <a:t>…,</a:t>
              </a:r>
              <a:endParaRPr lang="en-IN" dirty="0">
                <a:latin typeface="Aptos Display" panose="020B00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68D0F8-9816-9F0D-F0E8-A798C825E86C}"/>
              </a:ext>
            </a:extLst>
          </p:cNvPr>
          <p:cNvGrpSpPr/>
          <p:nvPr/>
        </p:nvGrpSpPr>
        <p:grpSpPr>
          <a:xfrm>
            <a:off x="248750" y="2200257"/>
            <a:ext cx="1981944" cy="805305"/>
            <a:chOff x="248750" y="2200257"/>
            <a:chExt cx="1981944" cy="805305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109D07D-4F58-E526-5C7B-4B156A7394A2}"/>
                </a:ext>
              </a:extLst>
            </p:cNvPr>
            <p:cNvSpPr/>
            <p:nvPr/>
          </p:nvSpPr>
          <p:spPr>
            <a:xfrm flipH="1">
              <a:off x="248750" y="2200257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A4AD966-F247-9171-606F-3F9D30BEC6D2}"/>
                </a:ext>
              </a:extLst>
            </p:cNvPr>
            <p:cNvSpPr txBox="1"/>
            <p:nvPr/>
          </p:nvSpPr>
          <p:spPr>
            <a:xfrm>
              <a:off x="350462" y="2279743"/>
              <a:ext cx="1880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Only user or farmer can access 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E75C9B-40C7-9716-CB42-434CE9416113}"/>
              </a:ext>
            </a:extLst>
          </p:cNvPr>
          <p:cNvGrpSpPr/>
          <p:nvPr/>
        </p:nvGrpSpPr>
        <p:grpSpPr>
          <a:xfrm>
            <a:off x="2551040" y="2169771"/>
            <a:ext cx="2155698" cy="805305"/>
            <a:chOff x="2551040" y="2169771"/>
            <a:chExt cx="2155698" cy="805305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1845526-26A9-B2E3-7BB9-F96758FCBB28}"/>
                </a:ext>
              </a:extLst>
            </p:cNvPr>
            <p:cNvSpPr/>
            <p:nvPr/>
          </p:nvSpPr>
          <p:spPr>
            <a:xfrm flipH="1">
              <a:off x="2604304" y="2169771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76B072-4DF4-4362-A03A-BEE10CC8ED33}"/>
                </a:ext>
              </a:extLst>
            </p:cNvPr>
            <p:cNvSpPr txBox="1"/>
            <p:nvPr/>
          </p:nvSpPr>
          <p:spPr>
            <a:xfrm>
              <a:off x="2551040" y="2249257"/>
              <a:ext cx="21556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Farmer should pay for delivery man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647AB3-90B3-86A8-738F-2C331C807655}"/>
              </a:ext>
            </a:extLst>
          </p:cNvPr>
          <p:cNvGrpSpPr/>
          <p:nvPr/>
        </p:nvGrpSpPr>
        <p:grpSpPr>
          <a:xfrm>
            <a:off x="4959858" y="2124504"/>
            <a:ext cx="1981944" cy="805305"/>
            <a:chOff x="4959858" y="2124504"/>
            <a:chExt cx="1981944" cy="805305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0CF70A39-CFE6-5170-F2D1-E8435ABE723D}"/>
                </a:ext>
              </a:extLst>
            </p:cNvPr>
            <p:cNvSpPr/>
            <p:nvPr/>
          </p:nvSpPr>
          <p:spPr>
            <a:xfrm flipH="1">
              <a:off x="4959858" y="2124504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1F527D7-8E78-3F10-1C01-F29C351F90C4}"/>
                </a:ext>
              </a:extLst>
            </p:cNvPr>
            <p:cNvSpPr txBox="1"/>
            <p:nvPr/>
          </p:nvSpPr>
          <p:spPr>
            <a:xfrm>
              <a:off x="5092488" y="2273948"/>
              <a:ext cx="17166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UI/UX Interface is hard 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CA9176-B155-D623-F24A-6B7A56AB77E0}"/>
              </a:ext>
            </a:extLst>
          </p:cNvPr>
          <p:cNvGrpSpPr/>
          <p:nvPr/>
        </p:nvGrpSpPr>
        <p:grpSpPr>
          <a:xfrm>
            <a:off x="7315412" y="2090283"/>
            <a:ext cx="1981944" cy="897637"/>
            <a:chOff x="7315412" y="2090283"/>
            <a:chExt cx="1981944" cy="897637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151463E-44E9-7E25-23AD-76335ED8FA3F}"/>
                </a:ext>
              </a:extLst>
            </p:cNvPr>
            <p:cNvSpPr/>
            <p:nvPr/>
          </p:nvSpPr>
          <p:spPr>
            <a:xfrm flipH="1">
              <a:off x="7315412" y="2090283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67E7BD0-3705-3A3F-7713-00D01FD30589}"/>
                </a:ext>
              </a:extLst>
            </p:cNvPr>
            <p:cNvSpPr txBox="1"/>
            <p:nvPr/>
          </p:nvSpPr>
          <p:spPr>
            <a:xfrm>
              <a:off x="7532446" y="2110757"/>
              <a:ext cx="170688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dirty="0">
                  <a:solidFill>
                    <a:schemeClr val="tx2">
                      <a:lumMod val="50000"/>
                    </a:schemeClr>
                  </a:solidFill>
                </a:rPr>
                <a:t>Farmer need to pay for Intermediate</a:t>
              </a:r>
              <a:endParaRPr lang="en-IN" sz="17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2052EE-352C-0341-75EC-2AB4DD7B88A6}"/>
              </a:ext>
            </a:extLst>
          </p:cNvPr>
          <p:cNvGrpSpPr/>
          <p:nvPr/>
        </p:nvGrpSpPr>
        <p:grpSpPr>
          <a:xfrm>
            <a:off x="9936226" y="2090282"/>
            <a:ext cx="1981944" cy="805305"/>
            <a:chOff x="9936226" y="2090282"/>
            <a:chExt cx="1981944" cy="805305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649A41E9-25EB-333E-40CB-948B14EC0A41}"/>
                </a:ext>
              </a:extLst>
            </p:cNvPr>
            <p:cNvSpPr/>
            <p:nvPr/>
          </p:nvSpPr>
          <p:spPr>
            <a:xfrm flipH="1">
              <a:off x="9936226" y="2090282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8668E9A-67DA-7D45-27FE-32619897F7EE}"/>
                </a:ext>
              </a:extLst>
            </p:cNvPr>
            <p:cNvSpPr txBox="1"/>
            <p:nvPr/>
          </p:nvSpPr>
          <p:spPr>
            <a:xfrm>
              <a:off x="10093528" y="2310584"/>
              <a:ext cx="18246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Language issues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DEE64-E127-7CFB-7029-11896CCEAB99}"/>
              </a:ext>
            </a:extLst>
          </p:cNvPr>
          <p:cNvGrpSpPr/>
          <p:nvPr/>
        </p:nvGrpSpPr>
        <p:grpSpPr>
          <a:xfrm>
            <a:off x="1353347" y="3539409"/>
            <a:ext cx="2015557" cy="805305"/>
            <a:chOff x="1613332" y="3539409"/>
            <a:chExt cx="2015557" cy="80530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82C41C5-C1D7-F7C4-102B-AAFFB6B33B56}"/>
                </a:ext>
              </a:extLst>
            </p:cNvPr>
            <p:cNvSpPr/>
            <p:nvPr/>
          </p:nvSpPr>
          <p:spPr>
            <a:xfrm flipH="1">
              <a:off x="1613332" y="3539409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8A668C-14C1-B2F2-7B7C-F67A66D5F1E9}"/>
                </a:ext>
              </a:extLst>
            </p:cNvPr>
            <p:cNvSpPr txBox="1"/>
            <p:nvPr/>
          </p:nvSpPr>
          <p:spPr>
            <a:xfrm>
              <a:off x="1646945" y="3597210"/>
              <a:ext cx="19819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Data Analyzing is missing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98B55C-4770-68D3-2A89-80E336957A0A}"/>
              </a:ext>
            </a:extLst>
          </p:cNvPr>
          <p:cNvGrpSpPr/>
          <p:nvPr/>
        </p:nvGrpSpPr>
        <p:grpSpPr>
          <a:xfrm>
            <a:off x="3817418" y="3537669"/>
            <a:ext cx="1981944" cy="805305"/>
            <a:chOff x="3969466" y="3525539"/>
            <a:chExt cx="1981944" cy="805305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72A9D19-8F9F-F928-9BFD-FBA1C0D9177F}"/>
                </a:ext>
              </a:extLst>
            </p:cNvPr>
            <p:cNvSpPr/>
            <p:nvPr/>
          </p:nvSpPr>
          <p:spPr>
            <a:xfrm flipH="1">
              <a:off x="3969466" y="3525539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5D0691-535E-05DD-5111-15DD1DD18CB6}"/>
                </a:ext>
              </a:extLst>
            </p:cNvPr>
            <p:cNvSpPr txBox="1"/>
            <p:nvPr/>
          </p:nvSpPr>
          <p:spPr>
            <a:xfrm>
              <a:off x="3992817" y="3647316"/>
              <a:ext cx="18632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Offering system is not good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492AC4-A964-AF04-B843-CAE6829671ED}"/>
              </a:ext>
            </a:extLst>
          </p:cNvPr>
          <p:cNvGrpSpPr/>
          <p:nvPr/>
        </p:nvGrpSpPr>
        <p:grpSpPr>
          <a:xfrm>
            <a:off x="6137987" y="3517722"/>
            <a:ext cx="1992206" cy="805305"/>
            <a:chOff x="6541474" y="3480854"/>
            <a:chExt cx="1992206" cy="805305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F55833E-CE95-7B16-1DA3-42607E89A6F4}"/>
                </a:ext>
              </a:extLst>
            </p:cNvPr>
            <p:cNvSpPr/>
            <p:nvPr/>
          </p:nvSpPr>
          <p:spPr>
            <a:xfrm flipH="1">
              <a:off x="6541474" y="3480854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7C1F10-1749-EBF1-75D2-1182ACE67B3C}"/>
                </a:ext>
              </a:extLst>
            </p:cNvPr>
            <p:cNvSpPr txBox="1"/>
            <p:nvPr/>
          </p:nvSpPr>
          <p:spPr>
            <a:xfrm>
              <a:off x="6568192" y="3597210"/>
              <a:ext cx="1965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Influencing the Farmers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43C4BB-D3F7-0120-53A6-C3E6D1A55D70}"/>
              </a:ext>
            </a:extLst>
          </p:cNvPr>
          <p:cNvGrpSpPr/>
          <p:nvPr/>
        </p:nvGrpSpPr>
        <p:grpSpPr>
          <a:xfrm>
            <a:off x="8678101" y="3513956"/>
            <a:ext cx="2000304" cy="805305"/>
            <a:chOff x="9005545" y="3436772"/>
            <a:chExt cx="2000304" cy="80530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D7A20A9-4EF7-70B5-31C1-F26312808ECB}"/>
                </a:ext>
              </a:extLst>
            </p:cNvPr>
            <p:cNvSpPr/>
            <p:nvPr/>
          </p:nvSpPr>
          <p:spPr>
            <a:xfrm flipH="1">
              <a:off x="9005545" y="3436772"/>
              <a:ext cx="1981944" cy="805305"/>
            </a:xfrm>
            <a:prstGeom prst="roundRect">
              <a:avLst>
                <a:gd name="adj" fmla="val 50000"/>
              </a:avLst>
            </a:prstGeom>
            <a:solidFill>
              <a:srgbClr val="C1D5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36F484-6CDA-872A-74B5-ABAF3E826504}"/>
                </a:ext>
              </a:extLst>
            </p:cNvPr>
            <p:cNvSpPr txBox="1"/>
            <p:nvPr/>
          </p:nvSpPr>
          <p:spPr>
            <a:xfrm>
              <a:off x="9023905" y="3558628"/>
              <a:ext cx="19819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>
                      <a:lumMod val="50000"/>
                    </a:schemeClr>
                  </a:solidFill>
                </a:rPr>
                <a:t>Some apps are slow </a:t>
              </a:r>
              <a:endParaRPr lang="en-IN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7417" name="Group 17416">
            <a:extLst>
              <a:ext uri="{FF2B5EF4-FFF2-40B4-BE49-F238E27FC236}">
                <a16:creationId xmlns:a16="http://schemas.microsoft.com/office/drawing/2014/main" id="{DEB2B1BC-C82F-6074-5841-7A1F52679593}"/>
              </a:ext>
            </a:extLst>
          </p:cNvPr>
          <p:cNvGrpSpPr/>
          <p:nvPr/>
        </p:nvGrpSpPr>
        <p:grpSpPr>
          <a:xfrm>
            <a:off x="1290320" y="1737360"/>
            <a:ext cx="9697169" cy="1812842"/>
            <a:chOff x="1290320" y="1737360"/>
            <a:chExt cx="9697169" cy="18128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346C999-0BFC-0EFD-4FC1-D20D2B2F8D13}"/>
                </a:ext>
              </a:extLst>
            </p:cNvPr>
            <p:cNvCxnSpPr>
              <a:cxnSpLocks/>
            </p:cNvCxnSpPr>
            <p:nvPr/>
          </p:nvCxnSpPr>
          <p:spPr>
            <a:xfrm>
              <a:off x="1290320" y="1737360"/>
              <a:ext cx="9697169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C76D89-70F4-0891-F892-80F7C26CFAF9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1290320" y="1737360"/>
              <a:ext cx="258" cy="542383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99D464-A353-C1A5-AB8D-AB6B90B898F4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>
              <a:off x="3595276" y="1737360"/>
              <a:ext cx="0" cy="432411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FB54BB3-7FBA-C7B2-F736-EC01B4696E0B}"/>
                </a:ext>
              </a:extLst>
            </p:cNvPr>
            <p:cNvCxnSpPr>
              <a:cxnSpLocks/>
              <a:endCxn id="52" idx="0"/>
            </p:cNvCxnSpPr>
            <p:nvPr/>
          </p:nvCxnSpPr>
          <p:spPr>
            <a:xfrm>
              <a:off x="5950830" y="1737360"/>
              <a:ext cx="0" cy="387144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7AFCDA4-86D4-03D7-B9A3-82B62CCB4029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8385886" y="1737360"/>
              <a:ext cx="0" cy="37339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7A02AF9-3683-C7CD-9F7A-8A272F177D8D}"/>
                </a:ext>
              </a:extLst>
            </p:cNvPr>
            <p:cNvCxnSpPr>
              <a:cxnSpLocks/>
              <a:stCxn id="50" idx="0"/>
            </p:cNvCxnSpPr>
            <p:nvPr/>
          </p:nvCxnSpPr>
          <p:spPr>
            <a:xfrm flipV="1">
              <a:off x="10927198" y="1737360"/>
              <a:ext cx="0" cy="352922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411" name="Straight Connector 17410">
              <a:extLst>
                <a:ext uri="{FF2B5EF4-FFF2-40B4-BE49-F238E27FC236}">
                  <a16:creationId xmlns:a16="http://schemas.microsoft.com/office/drawing/2014/main" id="{0AD7A595-21E1-A5BE-C226-8DF22E8350F3}"/>
                </a:ext>
              </a:extLst>
            </p:cNvPr>
            <p:cNvCxnSpPr>
              <a:stCxn id="56" idx="0"/>
            </p:cNvCxnSpPr>
            <p:nvPr/>
          </p:nvCxnSpPr>
          <p:spPr>
            <a:xfrm flipV="1">
              <a:off x="2344319" y="1737360"/>
              <a:ext cx="33613" cy="180204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412" name="Straight Connector 17411">
              <a:extLst>
                <a:ext uri="{FF2B5EF4-FFF2-40B4-BE49-F238E27FC236}">
                  <a16:creationId xmlns:a16="http://schemas.microsoft.com/office/drawing/2014/main" id="{88F3184C-411D-AF08-8921-0A01D5D97AD9}"/>
                </a:ext>
              </a:extLst>
            </p:cNvPr>
            <p:cNvCxnSpPr/>
            <p:nvPr/>
          </p:nvCxnSpPr>
          <p:spPr>
            <a:xfrm flipV="1">
              <a:off x="4792680" y="1748153"/>
              <a:ext cx="33613" cy="180204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413" name="Straight Connector 17412">
              <a:extLst>
                <a:ext uri="{FF2B5EF4-FFF2-40B4-BE49-F238E27FC236}">
                  <a16:creationId xmlns:a16="http://schemas.microsoft.com/office/drawing/2014/main" id="{03A47FFA-72B9-E1D6-09F6-7E6EA3FB0644}"/>
                </a:ext>
              </a:extLst>
            </p:cNvPr>
            <p:cNvCxnSpPr/>
            <p:nvPr/>
          </p:nvCxnSpPr>
          <p:spPr>
            <a:xfrm flipV="1">
              <a:off x="9661447" y="1748153"/>
              <a:ext cx="33613" cy="180204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414" name="Straight Connector 17413">
              <a:extLst>
                <a:ext uri="{FF2B5EF4-FFF2-40B4-BE49-F238E27FC236}">
                  <a16:creationId xmlns:a16="http://schemas.microsoft.com/office/drawing/2014/main" id="{4D986F38-DFD0-6595-07FA-0FF801274B5D}"/>
                </a:ext>
              </a:extLst>
            </p:cNvPr>
            <p:cNvCxnSpPr/>
            <p:nvPr/>
          </p:nvCxnSpPr>
          <p:spPr>
            <a:xfrm flipV="1">
              <a:off x="7109847" y="1737360"/>
              <a:ext cx="33613" cy="180204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7423" name="Group 17422">
            <a:extLst>
              <a:ext uri="{FF2B5EF4-FFF2-40B4-BE49-F238E27FC236}">
                <a16:creationId xmlns:a16="http://schemas.microsoft.com/office/drawing/2014/main" id="{9173C65D-52CD-F193-82F8-A6DBF52FE8B5}"/>
              </a:ext>
            </a:extLst>
          </p:cNvPr>
          <p:cNvGrpSpPr/>
          <p:nvPr/>
        </p:nvGrpSpPr>
        <p:grpSpPr>
          <a:xfrm>
            <a:off x="4144859" y="4675184"/>
            <a:ext cx="3985333" cy="715989"/>
            <a:chOff x="4144859" y="4675184"/>
            <a:chExt cx="3985333" cy="715989"/>
          </a:xfrm>
        </p:grpSpPr>
        <p:sp>
          <p:nvSpPr>
            <p:cNvPr id="17418" name="TextBox 17417">
              <a:extLst>
                <a:ext uri="{FF2B5EF4-FFF2-40B4-BE49-F238E27FC236}">
                  <a16:creationId xmlns:a16="http://schemas.microsoft.com/office/drawing/2014/main" id="{7A17629D-14CB-47C8-F173-0C9CF064E1CA}"/>
                </a:ext>
              </a:extLst>
            </p:cNvPr>
            <p:cNvSpPr txBox="1"/>
            <p:nvPr/>
          </p:nvSpPr>
          <p:spPr>
            <a:xfrm>
              <a:off x="4144859" y="4675184"/>
              <a:ext cx="39853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askerville Old Face" panose="02020602080505020303" pitchFamily="18" charset="0"/>
                </a:rPr>
                <a:t>Let’s break all these struggles with</a:t>
              </a:r>
              <a:endParaRPr lang="en-IN" sz="2000" dirty="0">
                <a:latin typeface="Baskerville Old Face" panose="02020602080505020303" pitchFamily="18" charset="0"/>
              </a:endParaRPr>
            </a:p>
          </p:txBody>
        </p:sp>
        <p:sp>
          <p:nvSpPr>
            <p:cNvPr id="17419" name="TextBox 17418">
              <a:extLst>
                <a:ext uri="{FF2B5EF4-FFF2-40B4-BE49-F238E27FC236}">
                  <a16:creationId xmlns:a16="http://schemas.microsoft.com/office/drawing/2014/main" id="{08EE1F20-E7EE-9657-4360-E0B20E9ED5D4}"/>
                </a:ext>
              </a:extLst>
            </p:cNvPr>
            <p:cNvSpPr txBox="1"/>
            <p:nvPr/>
          </p:nvSpPr>
          <p:spPr>
            <a:xfrm>
              <a:off x="5049542" y="4991063"/>
              <a:ext cx="18261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3">
                      <a:lumMod val="50000"/>
                    </a:schemeClr>
                  </a:solidFill>
                  <a:latin typeface="Bauhaus 93" panose="04030905020B02020C02" pitchFamily="82" charset="0"/>
                </a:rPr>
                <a:t>Farm Bridge</a:t>
              </a:r>
              <a:endParaRPr lang="en-IN" sz="2000" b="1" dirty="0">
                <a:solidFill>
                  <a:schemeClr val="accent3">
                    <a:lumMod val="50000"/>
                  </a:schemeClr>
                </a:solidFill>
                <a:latin typeface="Bauhaus 93" panose="04030905020B02020C02" pitchFamily="82" charset="0"/>
              </a:endParaRPr>
            </a:p>
          </p:txBody>
        </p:sp>
      </p:grpSp>
      <p:grpSp>
        <p:nvGrpSpPr>
          <p:cNvPr id="17424" name="Group 17423">
            <a:extLst>
              <a:ext uri="{FF2B5EF4-FFF2-40B4-BE49-F238E27FC236}">
                <a16:creationId xmlns:a16="http://schemas.microsoft.com/office/drawing/2014/main" id="{B1A9FB5F-4192-9E53-DC89-C94D93ED4E24}"/>
              </a:ext>
            </a:extLst>
          </p:cNvPr>
          <p:cNvGrpSpPr/>
          <p:nvPr/>
        </p:nvGrpSpPr>
        <p:grpSpPr>
          <a:xfrm>
            <a:off x="609600" y="5391173"/>
            <a:ext cx="4409339" cy="831753"/>
            <a:chOff x="609600" y="5391173"/>
            <a:chExt cx="4409339" cy="831753"/>
          </a:xfrm>
        </p:grpSpPr>
        <p:sp>
          <p:nvSpPr>
            <p:cNvPr id="17421" name="TextBox 17420">
              <a:hlinkClick r:id="rId4"/>
              <a:extLst>
                <a:ext uri="{FF2B5EF4-FFF2-40B4-BE49-F238E27FC236}">
                  <a16:creationId xmlns:a16="http://schemas.microsoft.com/office/drawing/2014/main" id="{E5EB3571-3EFD-5733-806D-A63212CFC4B3}"/>
                </a:ext>
              </a:extLst>
            </p:cNvPr>
            <p:cNvSpPr txBox="1"/>
            <p:nvPr/>
          </p:nvSpPr>
          <p:spPr>
            <a:xfrm>
              <a:off x="1950821" y="5853594"/>
              <a:ext cx="3068118" cy="3693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Research work on other apps</a:t>
              </a:r>
              <a:endParaRPr lang="en-IN" u="sng" dirty="0"/>
            </a:p>
          </p:txBody>
        </p:sp>
        <p:sp>
          <p:nvSpPr>
            <p:cNvPr id="17422" name="TextBox 17421">
              <a:extLst>
                <a:ext uri="{FF2B5EF4-FFF2-40B4-BE49-F238E27FC236}">
                  <a16:creationId xmlns:a16="http://schemas.microsoft.com/office/drawing/2014/main" id="{3E32452D-A965-3BC2-2FBE-5680B3054EA4}"/>
                </a:ext>
              </a:extLst>
            </p:cNvPr>
            <p:cNvSpPr txBox="1"/>
            <p:nvPr/>
          </p:nvSpPr>
          <p:spPr>
            <a:xfrm>
              <a:off x="609600" y="5391173"/>
              <a:ext cx="287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Reference link:</a:t>
              </a:r>
              <a:endParaRPr lang="en-IN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frambridge</Template>
  <TotalTime>323</TotalTime>
  <Words>427</Words>
  <Application>Microsoft Office PowerPoint</Application>
  <PresentationFormat>Widescreen</PresentationFormat>
  <Paragraphs>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6" baseType="lpstr">
      <vt:lpstr>ＭＳ Ｐゴシック</vt:lpstr>
      <vt:lpstr>Aptos</vt:lpstr>
      <vt:lpstr>Aptos Display</vt:lpstr>
      <vt:lpstr>Aptos Narrow</vt:lpstr>
      <vt:lpstr>Arial</vt:lpstr>
      <vt:lpstr>Baskerville Old Face</vt:lpstr>
      <vt:lpstr>Bauhaus 93</vt:lpstr>
      <vt:lpstr>Berlin Sans FB</vt:lpstr>
      <vt:lpstr>Berlin Sans FB Demi</vt:lpstr>
      <vt:lpstr>Bernard MT Condensed</vt:lpstr>
      <vt:lpstr>Bodoni MT Black</vt:lpstr>
      <vt:lpstr>Calibri</vt:lpstr>
      <vt:lpstr>Cambria Math</vt:lpstr>
      <vt:lpstr>Cascadia Code SemiBold</vt:lpstr>
      <vt:lpstr>Eras Bold ITC</vt:lpstr>
      <vt:lpstr>Segoe UI Variable Small Semibol</vt:lpstr>
      <vt:lpstr>Sitka Small Semibold</vt:lpstr>
      <vt:lpstr>Times New Roman</vt:lpstr>
      <vt:lpstr>TradeGothic</vt:lpstr>
      <vt:lpstr>Office Theme</vt:lpstr>
      <vt:lpstr>PowerPoint Presentation</vt:lpstr>
      <vt:lpstr> IDEA-FARMBRIDGE</vt:lpstr>
      <vt:lpstr>TECHNICAL APPROACH</vt:lpstr>
      <vt:lpstr>FEASIBILITY AND VIABILITY</vt:lpstr>
      <vt:lpstr>PowerPoint Presentation</vt:lpstr>
      <vt:lpstr>RESEARCH 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kiruba k</dc:creator>
  <cp:keywords/>
  <dc:description/>
  <cp:lastModifiedBy>kiruba k</cp:lastModifiedBy>
  <cp:revision>14</cp:revision>
  <dcterms:created xsi:type="dcterms:W3CDTF">2024-09-01T13:48:50Z</dcterms:created>
  <dcterms:modified xsi:type="dcterms:W3CDTF">2026-02-01T14:37:18Z</dcterms:modified>
  <cp:category/>
</cp:coreProperties>
</file>